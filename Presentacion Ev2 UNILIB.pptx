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68" r:id="rId1"/>
  </p:sldMasterIdLst>
  <p:sldIdLst>
    <p:sldId id="256" r:id="rId2"/>
    <p:sldId id="257" r:id="rId3"/>
    <p:sldId id="265" r:id="rId4"/>
    <p:sldId id="258" r:id="rId5"/>
    <p:sldId id="259" r:id="rId6"/>
    <p:sldId id="261" r:id="rId7"/>
    <p:sldId id="260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8787"/>
    <a:srgbClr val="D9D9D9"/>
    <a:srgbClr val="AFAB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657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312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926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043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179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472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020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27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67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21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0532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269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4625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791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2813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527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79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  <p:sldLayoutId id="2147484080" r:id="rId12"/>
    <p:sldLayoutId id="2147484081" r:id="rId13"/>
    <p:sldLayoutId id="2147484082" r:id="rId14"/>
    <p:sldLayoutId id="2147484083" r:id="rId15"/>
    <p:sldLayoutId id="214748408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s.wikipedia.org/wiki/Modelo_de_Vistas_de_Arquitectura_4%2B1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>
            <a:extLst>
              <a:ext uri="{FF2B5EF4-FFF2-40B4-BE49-F238E27FC236}">
                <a16:creationId xmlns:a16="http://schemas.microsoft.com/office/drawing/2014/main" id="{AA39A5D4-34F4-C084-716C-8B2AA50014F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15000"/>
          </a:blip>
          <a:srcRect t="9126" b="660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F1E6372-0B22-B09D-93F2-51C9F4A4B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229277"/>
            <a:ext cx="8302770" cy="2929467"/>
          </a:xfrm>
        </p:spPr>
        <p:txBody>
          <a:bodyPr>
            <a:normAutofit fontScale="90000"/>
          </a:bodyPr>
          <a:lstStyle/>
          <a:p>
            <a:pPr algn="just"/>
            <a:r>
              <a:rPr lang="es-CL" b="1" noProof="0" dirty="0">
                <a:solidFill>
                  <a:srgbClr val="8787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UNILIB</a:t>
            </a:r>
            <a:br>
              <a:rPr lang="es-CL" noProof="0" dirty="0">
                <a:solidFill>
                  <a:srgbClr val="878787"/>
                </a:solidFill>
              </a:rPr>
            </a:br>
            <a:r>
              <a:rPr lang="es-CL" noProof="0" dirty="0">
                <a:solidFill>
                  <a:srgbClr val="878787"/>
                </a:solidFill>
              </a:rPr>
              <a:t> </a:t>
            </a:r>
            <a:br>
              <a:rPr lang="es-CL" noProof="0" dirty="0">
                <a:solidFill>
                  <a:srgbClr val="878787"/>
                </a:solidFill>
              </a:rPr>
            </a:br>
            <a:r>
              <a:rPr lang="es-CL" noProof="0" dirty="0">
                <a:solidFill>
                  <a:srgbClr val="8787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DE GESTIÓN DE BIBILITOCARIA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CA954D-13FB-45F4-9B02-FDC2D6AFC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695" y="4516582"/>
            <a:ext cx="4340370" cy="1985818"/>
          </a:xfrm>
        </p:spPr>
        <p:txBody>
          <a:bodyPr>
            <a:normAutofit lnSpcReduction="10000"/>
          </a:bodyPr>
          <a:lstStyle/>
          <a:p>
            <a:pPr algn="l"/>
            <a:r>
              <a:rPr lang="es-C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Grupo 10:</a:t>
            </a:r>
          </a:p>
          <a:p>
            <a:pPr algn="l"/>
            <a:r>
              <a:rPr lang="es-C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-Francisca Saavedra</a:t>
            </a:r>
          </a:p>
          <a:p>
            <a:pPr algn="l"/>
            <a:r>
              <a:rPr lang="es-C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-Ashley Garrido</a:t>
            </a:r>
          </a:p>
          <a:p>
            <a:pPr algn="l"/>
            <a:r>
              <a:rPr lang="es-C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-José Beas</a:t>
            </a:r>
          </a:p>
          <a:p>
            <a:pPr algn="l"/>
            <a:r>
              <a:rPr lang="es-C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-Ariel Ulloa</a:t>
            </a:r>
          </a:p>
          <a:p>
            <a:endParaRPr lang="es-CL" noProof="0" dirty="0"/>
          </a:p>
          <a:p>
            <a:endParaRPr lang="es-CL" noProof="0" dirty="0"/>
          </a:p>
          <a:p>
            <a:endParaRPr lang="es-CL" noProof="0" dirty="0"/>
          </a:p>
          <a:p>
            <a:endParaRPr lang="es-CL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A5D2244-98E2-DCA0-2DF6-7FF85490BB71}"/>
              </a:ext>
            </a:extLst>
          </p:cNvPr>
          <p:cNvSpPr txBox="1"/>
          <p:nvPr/>
        </p:nvSpPr>
        <p:spPr>
          <a:xfrm>
            <a:off x="331007" y="5029399"/>
            <a:ext cx="52955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noProof="0" dirty="0">
                <a:solidFill>
                  <a:srgbClr val="8787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 de la asignatura: Ingeniería de Software</a:t>
            </a:r>
          </a:p>
          <a:p>
            <a:endParaRPr lang="es-CL" sz="2000" noProof="0" dirty="0">
              <a:solidFill>
                <a:srgbClr val="8787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2000" noProof="0" dirty="0">
                <a:solidFill>
                  <a:srgbClr val="8787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Docente: E. Mallén González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8E46C1F-1418-97C0-80FD-FAB9DA5AB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046" y="87544"/>
            <a:ext cx="2520806" cy="53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726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BF5A73C9-3ED8-C115-1409-17239E07894D}"/>
              </a:ext>
            </a:extLst>
          </p:cNvPr>
          <p:cNvSpPr/>
          <p:nvPr/>
        </p:nvSpPr>
        <p:spPr>
          <a:xfrm>
            <a:off x="6988002" y="1321289"/>
            <a:ext cx="4387273" cy="3241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5167AD-F969-F013-B423-699A7E64F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48" y="1228"/>
            <a:ext cx="8596668" cy="721640"/>
          </a:xfrm>
        </p:spPr>
        <p:txBody>
          <a:bodyPr/>
          <a:lstStyle/>
          <a:p>
            <a:r>
              <a:rPr lang="es-CL" dirty="0"/>
              <a:t>Descripción</a:t>
            </a:r>
            <a:r>
              <a:rPr lang="es-CL" noProof="0" dirty="0"/>
              <a:t> del proyecto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F8B5758-B354-7A0E-A0B2-7F4042D58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046" y="87544"/>
            <a:ext cx="2520806" cy="536109"/>
          </a:xfrm>
          <a:prstGeom prst="rect">
            <a:avLst/>
          </a:pr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F590CBA8-3931-9059-831C-920B7026DD67}"/>
              </a:ext>
            </a:extLst>
          </p:cNvPr>
          <p:cNvSpPr/>
          <p:nvPr/>
        </p:nvSpPr>
        <p:spPr>
          <a:xfrm>
            <a:off x="3863456" y="1772807"/>
            <a:ext cx="2715491" cy="15886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Grupo objetivo: Estudiantes, docentes, bibliotecarios y administrador del sistema.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1682476-4F74-D2CC-B7FC-7D2DB30748FE}"/>
              </a:ext>
            </a:extLst>
          </p:cNvPr>
          <p:cNvSpPr txBox="1"/>
          <p:nvPr/>
        </p:nvSpPr>
        <p:spPr>
          <a:xfrm>
            <a:off x="6954983" y="1407760"/>
            <a:ext cx="43595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Necesidades detectadas:</a:t>
            </a:r>
          </a:p>
          <a:p>
            <a:r>
              <a:rPr lang="es-ES" dirty="0">
                <a:solidFill>
                  <a:schemeClr val="bg1"/>
                </a:solidFill>
              </a:rPr>
              <a:t>1. Altos tiempos de búsqueda de materiales</a:t>
            </a:r>
          </a:p>
          <a:p>
            <a:r>
              <a:rPr lang="es-ES" dirty="0">
                <a:solidFill>
                  <a:schemeClr val="bg1"/>
                </a:solidFill>
              </a:rPr>
              <a:t>2. Errores frecuentes en registro manual de préstamos</a:t>
            </a:r>
          </a:p>
          <a:p>
            <a:r>
              <a:rPr lang="es-ES" dirty="0">
                <a:solidFill>
                  <a:schemeClr val="bg1"/>
                </a:solidFill>
              </a:rPr>
              <a:t>3. Falta de notificaciones automáticas de vencimiento</a:t>
            </a:r>
          </a:p>
          <a:p>
            <a:r>
              <a:rPr lang="es-ES" dirty="0">
                <a:solidFill>
                  <a:schemeClr val="bg1"/>
                </a:solidFill>
              </a:rPr>
              <a:t>4. Ausencia de reportes estadísticos para la toma de decisiones</a:t>
            </a:r>
          </a:p>
          <a:p>
            <a:r>
              <a:rPr lang="es-ES" dirty="0">
                <a:solidFill>
                  <a:schemeClr val="bg1"/>
                </a:solidFill>
              </a:rPr>
              <a:t>5. Barreras de accesibilidad para usuarios con discapacidad visual </a:t>
            </a:r>
          </a:p>
          <a:p>
            <a:endParaRPr lang="es-CL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5AF6CA0-C238-8C31-606E-D104A4233B88}"/>
              </a:ext>
            </a:extLst>
          </p:cNvPr>
          <p:cNvSpPr txBox="1"/>
          <p:nvPr/>
        </p:nvSpPr>
        <p:spPr>
          <a:xfrm>
            <a:off x="178564" y="775855"/>
            <a:ext cx="7515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Producto UNILIB: Sistema web de gestión bibliotecaria con 5 módulos.</a:t>
            </a:r>
            <a:endParaRPr lang="es-CL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D95CCDE4-DB67-A2A1-DC49-D2D7E03E6D6C}"/>
              </a:ext>
            </a:extLst>
          </p:cNvPr>
          <p:cNvSpPr/>
          <p:nvPr/>
        </p:nvSpPr>
        <p:spPr>
          <a:xfrm>
            <a:off x="178564" y="1321288"/>
            <a:ext cx="3275837" cy="2530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Declaración de la visión:</a:t>
            </a:r>
          </a:p>
          <a:p>
            <a:pPr algn="ctr"/>
            <a:endParaRPr lang="es-ES" dirty="0"/>
          </a:p>
          <a:p>
            <a:pPr algn="ctr"/>
            <a:r>
              <a:rPr lang="es-ES" dirty="0"/>
              <a:t>Automatizar el control de inventario, prestamos y devoluciones de la biblioteca mediante un sistema web accesible, escalable y centrado en el usuario. </a:t>
            </a:r>
          </a:p>
        </p:txBody>
      </p:sp>
      <p:sp>
        <p:nvSpPr>
          <p:cNvPr id="37" name="Flecha: a la derecha 36">
            <a:extLst>
              <a:ext uri="{FF2B5EF4-FFF2-40B4-BE49-F238E27FC236}">
                <a16:creationId xmlns:a16="http://schemas.microsoft.com/office/drawing/2014/main" id="{988FF493-0F6C-3E05-40B9-4B07BACBCED4}"/>
              </a:ext>
            </a:extLst>
          </p:cNvPr>
          <p:cNvSpPr/>
          <p:nvPr/>
        </p:nvSpPr>
        <p:spPr>
          <a:xfrm>
            <a:off x="286326" y="4664364"/>
            <a:ext cx="928255" cy="7019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Valor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15FED03D-04FC-8D84-9263-0D398CE32306}"/>
              </a:ext>
            </a:extLst>
          </p:cNvPr>
          <p:cNvSpPr/>
          <p:nvPr/>
        </p:nvSpPr>
        <p:spPr>
          <a:xfrm>
            <a:off x="1417782" y="4212164"/>
            <a:ext cx="5320145" cy="2361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3199455-4B7D-B8F9-32D4-6CEE57C171BA}"/>
              </a:ext>
            </a:extLst>
          </p:cNvPr>
          <p:cNvSpPr txBox="1"/>
          <p:nvPr/>
        </p:nvSpPr>
        <p:spPr>
          <a:xfrm>
            <a:off x="1630218" y="4212165"/>
            <a:ext cx="51077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dirty="0">
                <a:solidFill>
                  <a:schemeClr val="bg1"/>
                </a:solidFill>
              </a:rPr>
              <a:t>1. Reducción de tiempos de búsqueda y préstamo.</a:t>
            </a:r>
          </a:p>
          <a:p>
            <a:pPr algn="just"/>
            <a:r>
              <a:rPr lang="es-CL" dirty="0">
                <a:solidFill>
                  <a:schemeClr val="bg1"/>
                </a:solidFill>
              </a:rPr>
              <a:t>2. Disminución de errores operacionales.</a:t>
            </a:r>
          </a:p>
          <a:p>
            <a:pPr algn="just"/>
            <a:r>
              <a:rPr lang="es-CL" dirty="0">
                <a:solidFill>
                  <a:schemeClr val="bg1"/>
                </a:solidFill>
              </a:rPr>
              <a:t>3. Accesibilidad universal (WCAG 2.1 AA).</a:t>
            </a:r>
          </a:p>
          <a:p>
            <a:pPr algn="just"/>
            <a:r>
              <a:rPr lang="es-CL" dirty="0">
                <a:solidFill>
                  <a:schemeClr val="bg1"/>
                </a:solidFill>
              </a:rPr>
              <a:t>4. Trazabilidad y control de inventario en tiempo real.</a:t>
            </a:r>
          </a:p>
          <a:p>
            <a:pPr algn="just"/>
            <a:r>
              <a:rPr lang="es-CL" dirty="0">
                <a:solidFill>
                  <a:schemeClr val="bg1"/>
                </a:solidFill>
              </a:rPr>
              <a:t>5. Soporte a la toma de decisiones mediante reportes exportables.</a:t>
            </a:r>
          </a:p>
        </p:txBody>
      </p:sp>
    </p:spTree>
    <p:extLst>
      <p:ext uri="{BB962C8B-B14F-4D97-AF65-F5344CB8AC3E}">
        <p14:creationId xmlns:p14="http://schemas.microsoft.com/office/powerpoint/2010/main" val="2116796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5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9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2DCCAA-2651-7E32-A89E-550828780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es-CL" dirty="0">
                <a:solidFill>
                  <a:srgbClr val="FFFFFF"/>
                </a:solidFill>
              </a:rPr>
              <a:t>Metodología y Planificación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BD2672-5072-45F5-258F-6889DA0AA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917" y="2837329"/>
            <a:ext cx="3658374" cy="2057944"/>
          </a:xfrm>
        </p:spPr>
        <p:txBody>
          <a:bodyPr anchor="t">
            <a:normAutofit/>
          </a:bodyPr>
          <a:lstStyle/>
          <a:p>
            <a:r>
              <a:rPr lang="es-CL" dirty="0">
                <a:solidFill>
                  <a:srgbClr val="FFFFFF"/>
                </a:solidFill>
              </a:rPr>
              <a:t>Metodología AUP-Proceso Ágil Unificado:</a:t>
            </a:r>
          </a:p>
          <a:p>
            <a:pPr marL="0" indent="0">
              <a:buNone/>
            </a:pPr>
            <a:r>
              <a:rPr lang="es-CL" dirty="0">
                <a:solidFill>
                  <a:srgbClr val="FFFFFF"/>
                </a:solidFill>
              </a:rPr>
              <a:t>Enfoque iterativo e incremental, adaptable a cambios, con fases claras que facilitan el control y la trazabilidad del proyecto.</a:t>
            </a:r>
          </a:p>
          <a:p>
            <a:pPr marL="0" indent="0">
              <a:buNone/>
            </a:pPr>
            <a:endParaRPr lang="es-CL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s-CL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s-CL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s-CL" dirty="0">
              <a:solidFill>
                <a:srgbClr val="FFFFFF"/>
              </a:solidFill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F953CC73-4BCE-D1F3-859C-F1358316F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644636"/>
              </p:ext>
            </p:extLst>
          </p:nvPr>
        </p:nvGraphicFramePr>
        <p:xfrm>
          <a:off x="70798" y="823035"/>
          <a:ext cx="5434048" cy="5203461"/>
        </p:xfrm>
        <a:graphic>
          <a:graphicData uri="http://schemas.openxmlformats.org/drawingml/2006/table">
            <a:tbl>
              <a:tblPr firstRow="1" bandRow="1"/>
              <a:tblGrid>
                <a:gridCol w="1791256">
                  <a:extLst>
                    <a:ext uri="{9D8B030D-6E8A-4147-A177-3AD203B41FA5}">
                      <a16:colId xmlns:a16="http://schemas.microsoft.com/office/drawing/2014/main" val="2990639075"/>
                    </a:ext>
                  </a:extLst>
                </a:gridCol>
                <a:gridCol w="803667">
                  <a:extLst>
                    <a:ext uri="{9D8B030D-6E8A-4147-A177-3AD203B41FA5}">
                      <a16:colId xmlns:a16="http://schemas.microsoft.com/office/drawing/2014/main" val="1426678302"/>
                    </a:ext>
                  </a:extLst>
                </a:gridCol>
                <a:gridCol w="567825">
                  <a:extLst>
                    <a:ext uri="{9D8B030D-6E8A-4147-A177-3AD203B41FA5}">
                      <a16:colId xmlns:a16="http://schemas.microsoft.com/office/drawing/2014/main" val="236772739"/>
                    </a:ext>
                  </a:extLst>
                </a:gridCol>
                <a:gridCol w="567825">
                  <a:extLst>
                    <a:ext uri="{9D8B030D-6E8A-4147-A177-3AD203B41FA5}">
                      <a16:colId xmlns:a16="http://schemas.microsoft.com/office/drawing/2014/main" val="3819844259"/>
                    </a:ext>
                  </a:extLst>
                </a:gridCol>
                <a:gridCol w="567825">
                  <a:extLst>
                    <a:ext uri="{9D8B030D-6E8A-4147-A177-3AD203B41FA5}">
                      <a16:colId xmlns:a16="http://schemas.microsoft.com/office/drawing/2014/main" val="2654732951"/>
                    </a:ext>
                  </a:extLst>
                </a:gridCol>
                <a:gridCol w="567825">
                  <a:extLst>
                    <a:ext uri="{9D8B030D-6E8A-4147-A177-3AD203B41FA5}">
                      <a16:colId xmlns:a16="http://schemas.microsoft.com/office/drawing/2014/main" val="470495294"/>
                    </a:ext>
                  </a:extLst>
                </a:gridCol>
                <a:gridCol w="567825">
                  <a:extLst>
                    <a:ext uri="{9D8B030D-6E8A-4147-A177-3AD203B41FA5}">
                      <a16:colId xmlns:a16="http://schemas.microsoft.com/office/drawing/2014/main" val="1163011086"/>
                    </a:ext>
                  </a:extLst>
                </a:gridCol>
              </a:tblGrid>
              <a:tr h="2697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ES" sz="7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Actividad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ES" sz="7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Responsable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ES" sz="7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Semana 1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ES" sz="7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Semana 2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ES" sz="7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Semana 3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ES" sz="7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Semana 4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ES" sz="7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Semana 5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1061990"/>
                  </a:ext>
                </a:extLst>
              </a:tr>
              <a:tr h="41439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Definir alcance y objetivos del proyecto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Ashley Garrido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highlight>
                            <a:srgbClr val="0000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934724"/>
                  </a:ext>
                </a:extLst>
              </a:tr>
              <a:tr h="41439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Identificar actores y perfiles de usuario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Jose Beas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662164"/>
                  </a:ext>
                </a:extLst>
              </a:tr>
              <a:tr h="41439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Levantar funcionalidades y restricciones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Jose Beas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9743831"/>
                  </a:ext>
                </a:extLst>
              </a:tr>
              <a:tr h="41439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Redactar sección 1 — Introducción ERS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Francisca Saavedra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highlight>
                            <a:srgbClr val="0000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212558"/>
                  </a:ext>
                </a:extLst>
              </a:tr>
              <a:tr h="2697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Elaborar planilla de RAN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Jose Beas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275788"/>
                  </a:ext>
                </a:extLst>
              </a:tr>
              <a:tr h="41439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Redactar sección 2 — Descripción general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Jose Beas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007432"/>
                  </a:ext>
                </a:extLst>
              </a:tr>
              <a:tr h="2697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Redactar RF y RNF (Sección 3 ERS)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Jose Beas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922417"/>
                  </a:ext>
                </a:extLst>
              </a:tr>
              <a:tr h="41439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Elaborar diagramas de contexto y componentes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Francisca Saavedra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668455"/>
                  </a:ext>
                </a:extLst>
              </a:tr>
              <a:tr h="41439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Diseñar interfaces de usuario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Francisca Saavedra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271917"/>
                  </a:ext>
                </a:extLst>
              </a:tr>
              <a:tr h="2697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Elaborar propuesta de planificación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Ashley Garrido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878169"/>
                  </a:ext>
                </a:extLst>
              </a:tr>
              <a:tr h="2697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Elaborar tablero Kanban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Ariel Ulloa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183822"/>
                  </a:ext>
                </a:extLst>
              </a:tr>
              <a:tr h="2697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Construir matriz de requerimientos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Ariel Ulloa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036107"/>
                  </a:ext>
                </a:extLst>
              </a:tr>
              <a:tr h="41439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Revisión de coherencia y trazabilidad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Todo el equipo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379759"/>
                  </a:ext>
                </a:extLst>
              </a:tr>
              <a:tr h="2697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Preparar presentación final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Todo el equipo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7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s-CL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397" marR="31397" marT="31397" marB="313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193227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377FA502-6689-2061-1F13-2A253251ABF0}"/>
              </a:ext>
            </a:extLst>
          </p:cNvPr>
          <p:cNvSpPr txBox="1"/>
          <p:nvPr/>
        </p:nvSpPr>
        <p:spPr>
          <a:xfrm>
            <a:off x="266294" y="311542"/>
            <a:ext cx="6100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CL" dirty="0"/>
              <a:t>Carta Gantt</a:t>
            </a:r>
          </a:p>
        </p:txBody>
      </p:sp>
    </p:spTree>
    <p:extLst>
      <p:ext uri="{BB962C8B-B14F-4D97-AF65-F5344CB8AC3E}">
        <p14:creationId xmlns:p14="http://schemas.microsoft.com/office/powerpoint/2010/main" val="2462973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6318B-D372-DD3B-EE0C-B63F98B72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u="sng" noProof="0" dirty="0">
                <a:hlinkClick r:id="rId2"/>
              </a:rPr>
              <a:t>Modelo de Vistas de Arquitectura 4+1</a:t>
            </a:r>
            <a:br>
              <a:rPr lang="es-CL" u="sng" noProof="0" dirty="0"/>
            </a:br>
            <a:endParaRPr lang="es-CL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EBF10B-FD2D-5A65-41CC-454EEEC36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289" y="1930400"/>
            <a:ext cx="9556565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L" noProof="0" dirty="0"/>
          </a:p>
          <a:p>
            <a:pPr marL="0" indent="0">
              <a:buNone/>
            </a:pPr>
            <a:endParaRPr lang="es-CL" noProof="0" dirty="0"/>
          </a:p>
          <a:p>
            <a:pPr marL="0" indent="0">
              <a:buNone/>
            </a:pPr>
            <a:endParaRPr lang="es-CL" noProof="0" dirty="0"/>
          </a:p>
          <a:p>
            <a:pPr marL="0" indent="0">
              <a:buNone/>
            </a:pPr>
            <a:r>
              <a:rPr lang="es-CL" sz="2200" noProof="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                </a:t>
            </a:r>
            <a:r>
              <a:rPr lang="es-CL" noProof="0" dirty="0"/>
              <a:t>              </a:t>
            </a:r>
            <a:endParaRPr lang="es-CL" sz="2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AF33690-DA84-EF74-83E5-577FCFD33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046" y="87544"/>
            <a:ext cx="2520806" cy="536109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25BE1724-83B8-30B7-0EDC-32C9123B045A}"/>
              </a:ext>
            </a:extLst>
          </p:cNvPr>
          <p:cNvSpPr/>
          <p:nvPr/>
        </p:nvSpPr>
        <p:spPr>
          <a:xfrm>
            <a:off x="1112980" y="1615613"/>
            <a:ext cx="2318327" cy="163483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dirty="0">
                <a:latin typeface="Arial" panose="020B0604020202020204" pitchFamily="34" charset="0"/>
                <a:cs typeface="Arial" panose="020B0604020202020204" pitchFamily="34" charset="0"/>
              </a:rPr>
              <a:t>Vista Lógica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5FD432B-B0B0-138D-B345-EA88C9B8EF1B}"/>
              </a:ext>
            </a:extLst>
          </p:cNvPr>
          <p:cNvSpPr/>
          <p:nvPr/>
        </p:nvSpPr>
        <p:spPr>
          <a:xfrm>
            <a:off x="1112980" y="4353327"/>
            <a:ext cx="2318327" cy="1634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dirty="0">
                <a:latin typeface="Arial" panose="020B0604020202020204" pitchFamily="34" charset="0"/>
                <a:cs typeface="Arial" panose="020B0604020202020204" pitchFamily="34" charset="0"/>
              </a:rPr>
              <a:t>Vista de Procesos 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5F0511-B1E2-BF7C-8DD9-973491E00A0E}"/>
              </a:ext>
            </a:extLst>
          </p:cNvPr>
          <p:cNvSpPr/>
          <p:nvPr/>
        </p:nvSpPr>
        <p:spPr>
          <a:xfrm>
            <a:off x="5561531" y="4353326"/>
            <a:ext cx="2318327" cy="16348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Vista Física 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0881C88-DE9B-0E82-A74E-D80FFF75C3D0}"/>
              </a:ext>
            </a:extLst>
          </p:cNvPr>
          <p:cNvSpPr/>
          <p:nvPr/>
        </p:nvSpPr>
        <p:spPr>
          <a:xfrm>
            <a:off x="5516417" y="1615613"/>
            <a:ext cx="2318327" cy="16348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dirty="0">
                <a:latin typeface="Arial" panose="020B0604020202020204" pitchFamily="34" charset="0"/>
                <a:cs typeface="Arial" panose="020B0604020202020204" pitchFamily="34" charset="0"/>
              </a:rPr>
              <a:t>Vista de Desarrollo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0F35D07D-C4F2-6960-8378-1106D7F7FE50}"/>
              </a:ext>
            </a:extLst>
          </p:cNvPr>
          <p:cNvSpPr/>
          <p:nvPr/>
        </p:nvSpPr>
        <p:spPr>
          <a:xfrm>
            <a:off x="2949155" y="2501437"/>
            <a:ext cx="3004299" cy="233680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 </a:t>
            </a:r>
          </a:p>
          <a:p>
            <a:pPr algn="ctr"/>
            <a:r>
              <a:rPr lang="es-CL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Vista de Escenarios</a:t>
            </a:r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1BE30E06-754F-28A6-43B3-F553223C99F1}"/>
              </a:ext>
            </a:extLst>
          </p:cNvPr>
          <p:cNvSpPr/>
          <p:nvPr/>
        </p:nvSpPr>
        <p:spPr>
          <a:xfrm>
            <a:off x="3954404" y="1853508"/>
            <a:ext cx="766618" cy="4248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2ACB5CA5-019B-17F5-344C-4A388AFC4CB5}"/>
              </a:ext>
            </a:extLst>
          </p:cNvPr>
          <p:cNvSpPr/>
          <p:nvPr/>
        </p:nvSpPr>
        <p:spPr>
          <a:xfrm rot="5400000">
            <a:off x="6337384" y="3600188"/>
            <a:ext cx="766618" cy="4248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0E77788C-DBD6-D3EF-6E1D-9AAB435A9B11}"/>
              </a:ext>
            </a:extLst>
          </p:cNvPr>
          <p:cNvSpPr/>
          <p:nvPr/>
        </p:nvSpPr>
        <p:spPr>
          <a:xfrm>
            <a:off x="4067996" y="5156259"/>
            <a:ext cx="766618" cy="4248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A765D239-086C-7130-6D5E-88DD58088159}"/>
              </a:ext>
            </a:extLst>
          </p:cNvPr>
          <p:cNvSpPr/>
          <p:nvPr/>
        </p:nvSpPr>
        <p:spPr>
          <a:xfrm rot="5400000">
            <a:off x="1734750" y="3607551"/>
            <a:ext cx="766618" cy="4248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98389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BA1E215-460C-F793-F37B-05802DEDF3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11" y="1579419"/>
            <a:ext cx="4216762" cy="453505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0D8DD98-8584-DF28-FC51-5DBDCDD842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655" y="1579419"/>
            <a:ext cx="3947613" cy="469824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0A61547-2555-4DE2-A37F-A53E54917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C2447E0-8F0D-479C-94E4-82BC8EB68C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F943397-DCDD-44CB-BBA9-9510B7698D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E2630ADC-31DB-4C48-AC4A-DAAE5A7B8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2CA5C44E-F54E-47E0-8989-4D8686B33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F54E15E-830B-4375-A239-4C51954DE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CB37E322-FF7E-4872-BD6B-50A48CBEA5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710D0C1E-D2F8-45B2-AE14-1AC8E976F7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3216331B-17D0-4167-ABD2-B2198058C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A53A7A96-3806-4BB3-91DE-6EED48AC78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F8C2B86C-EE71-466E-8991-503F9C9C1B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047681F-8711-72AD-EF7C-DA22A42BD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306" y="186212"/>
            <a:ext cx="8288035" cy="109505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CL" sz="3400" noProof="0" dirty="0"/>
              <a:t>Vista de Escenarios:</a:t>
            </a:r>
            <a:br>
              <a:rPr lang="es-CL" sz="3400" noProof="0" dirty="0"/>
            </a:br>
            <a:r>
              <a:rPr lang="es-CL" sz="3400" noProof="0" dirty="0"/>
              <a:t>Diagrama de Casos de Uso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F3849F6-1C60-9E1B-A85F-703BF963FF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9708" y="87544"/>
            <a:ext cx="2429143" cy="51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712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B01F1AB-FD1D-3AE6-7CA4-EFEDC386B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621" y="214227"/>
            <a:ext cx="8288032" cy="10963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s-CL" sz="3400" kern="120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Vista Lógica:</a:t>
            </a:r>
            <a:br>
              <a:rPr lang="es-CL" sz="3400" kern="120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</a:br>
            <a:r>
              <a:rPr lang="es-CL" sz="3400" kern="120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Diagrama de Clases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13A152E-13AD-92A5-5E04-238AAB06C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0472" y="87544"/>
            <a:ext cx="2438379" cy="518579"/>
          </a:xfrm>
          <a:prstGeom prst="rect">
            <a:avLst/>
          </a:prstGeom>
        </p:spPr>
      </p:pic>
      <p:pic>
        <p:nvPicPr>
          <p:cNvPr id="25" name="Marcador de contenido 24">
            <a:extLst>
              <a:ext uri="{FF2B5EF4-FFF2-40B4-BE49-F238E27FC236}">
                <a16:creationId xmlns:a16="http://schemas.microsoft.com/office/drawing/2014/main" id="{F4E44FBA-D10F-99EA-2163-3CBFA4FFC2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41" y="2308479"/>
            <a:ext cx="9114686" cy="304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38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99D8D-2EB6-6C81-A10F-DEA5227CF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7" y="286326"/>
            <a:ext cx="11648593" cy="5458692"/>
          </a:xfrm>
        </p:spPr>
        <p:txBody>
          <a:bodyPr>
            <a:normAutofit/>
          </a:bodyPr>
          <a:lstStyle/>
          <a:p>
            <a:pPr algn="ctr"/>
            <a:r>
              <a:rPr lang="es-CL" noProof="0" dirty="0"/>
              <a:t>Vista de Procesos:</a:t>
            </a:r>
            <a:br>
              <a:rPr lang="es-CL" noProof="0" dirty="0"/>
            </a:br>
            <a:r>
              <a:rPr lang="es-CL" noProof="0" dirty="0"/>
              <a:t> </a:t>
            </a:r>
            <a:br>
              <a:rPr lang="es-CL" noProof="0" dirty="0"/>
            </a:br>
            <a:r>
              <a:rPr lang="es-CL" noProof="0" dirty="0"/>
              <a:t>Diagrama de Actividades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8E6B3D3-773F-E278-0583-AD0A0E03F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046" y="87544"/>
            <a:ext cx="2520806" cy="536109"/>
          </a:xfrm>
          <a:prstGeom prst="rect">
            <a:avLst/>
          </a:prstGeom>
        </p:spPr>
      </p:pic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FEB9AEA5-0907-E4BE-73BF-7D14C033F4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93" y="2303450"/>
            <a:ext cx="11374820" cy="408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771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23507A6-BCD2-1F55-340B-7362779C68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73" y="1824566"/>
            <a:ext cx="9638275" cy="429914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0911A06-78BA-1B02-3AF5-B9571D2EC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115" y="296333"/>
            <a:ext cx="8288032" cy="122343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s-CL" sz="3400" kern="120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Vista de Desarrollo:</a:t>
            </a:r>
            <a:br>
              <a:rPr lang="es-CL" sz="3400" kern="120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</a:br>
            <a:r>
              <a:rPr lang="es-CL" sz="3400" kern="120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Diagrama de componentes </a:t>
            </a:r>
            <a:br>
              <a:rPr lang="es-CL" sz="3400" kern="120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</a:br>
            <a:endParaRPr lang="es-CL" sz="3400" kern="1200" noProof="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175EFC6-1D0C-81A5-4873-DC1FCC753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046" y="87544"/>
            <a:ext cx="2520806" cy="53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753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1CC52C8-59B8-38D0-07C1-759B344B4D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98" y="1117599"/>
            <a:ext cx="8969201" cy="519215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70D384D-71A6-DDC7-5A47-66550CAA0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61" y="129309"/>
            <a:ext cx="8596668" cy="1320800"/>
          </a:xfrm>
        </p:spPr>
        <p:txBody>
          <a:bodyPr/>
          <a:lstStyle/>
          <a:p>
            <a:r>
              <a:rPr lang="es-CL"/>
              <a:t>Vista Física:</a:t>
            </a:r>
            <a:br>
              <a:rPr lang="es-CL"/>
            </a:br>
            <a:r>
              <a:rPr lang="es-CL"/>
              <a:t>Diagrama de Despliegue </a:t>
            </a:r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3A9CB65-9713-3CE0-E46B-BD9DFC2C6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046" y="87544"/>
            <a:ext cx="2520806" cy="53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87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C01E9-94C6-98F8-AA66-DDEFF5295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D43684-465A-26D5-BDDC-8418CE287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61" y="1643352"/>
            <a:ext cx="8928484" cy="3880773"/>
          </a:xfrm>
        </p:spPr>
        <p:txBody>
          <a:bodyPr>
            <a:normAutofit/>
          </a:bodyPr>
          <a:lstStyle/>
          <a:p>
            <a:pPr algn="just"/>
            <a:r>
              <a:rPr lang="es-CL" dirty="0"/>
              <a:t>¿Por qué es tan importante el diseño en este proyecto y en cualquier otro? Con diseño y el modelo 4+1, UNILIB asegura coherencia, calidad, accesibilidad y mantenibilidad antes de continuar con el proyecto.</a:t>
            </a:r>
            <a:endParaRPr lang="es-CL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0741B7B-DA9D-4B70-79AC-2585C68B3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046" y="87544"/>
            <a:ext cx="2520806" cy="53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26034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359</TotalTime>
  <Words>515</Words>
  <Application>Microsoft Office PowerPoint</Application>
  <PresentationFormat>Panorámica</PresentationFormat>
  <Paragraphs>158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Trebuchet MS</vt:lpstr>
      <vt:lpstr>Wingdings 3</vt:lpstr>
      <vt:lpstr>Faceta</vt:lpstr>
      <vt:lpstr>UNILIB   SISTEMA DE GESTIÓN DE BIBILITOCARIA</vt:lpstr>
      <vt:lpstr>Descripción del proyecto</vt:lpstr>
      <vt:lpstr>Metodología y Planificación</vt:lpstr>
      <vt:lpstr>Modelo de Vistas de Arquitectura 4+1 </vt:lpstr>
      <vt:lpstr>Vista de Escenarios: Diagrama de Casos de Uso</vt:lpstr>
      <vt:lpstr>Vista Lógica: Diagrama de Clases</vt:lpstr>
      <vt:lpstr>Vista de Procesos:   Diagrama de Actividades</vt:lpstr>
      <vt:lpstr>Vista de Desarrollo: Diagrama de componentes  </vt:lpstr>
      <vt:lpstr>Vista Física: Diagrama de Despliegue 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FRANCISCA . SAAVEDRA SAAVEDRA MEZA</dc:creator>
  <cp:lastModifiedBy>JOSE MIGUEL BEAS CAMPOS</cp:lastModifiedBy>
  <cp:revision>5</cp:revision>
  <dcterms:created xsi:type="dcterms:W3CDTF">2026-05-28T14:29:14Z</dcterms:created>
  <dcterms:modified xsi:type="dcterms:W3CDTF">2026-05-30T18:36:34Z</dcterms:modified>
</cp:coreProperties>
</file>