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59" r:id="rId6"/>
    <p:sldId id="260" r:id="rId7"/>
    <p:sldId id="266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A85"/>
    <a:srgbClr val="BEC5CF"/>
    <a:srgbClr val="1F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42" autoAdjust="0"/>
    <p:restoredTop sz="94610"/>
  </p:normalViewPr>
  <p:slideViewPr>
    <p:cSldViewPr snapToGrid="0" snapToObjects="1">
      <p:cViewPr>
        <p:scale>
          <a:sx n="98" d="100"/>
          <a:sy n="98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44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D3B71-DCB6-1AD1-628C-42081F4A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9C6A7-8190-9C44-5579-6F8FF78B2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F5736-BDBE-B96B-5FFB-06871B4BE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FFF3A-5E08-F7E4-459C-435AD2483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26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noProof="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1 — Caso UNILIB Biblioteca</a:t>
            </a:r>
            <a:endParaRPr lang="es-CL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8046720" cy="18288"/>
          </a:xfrm>
          <a:prstGeom prst="rect">
            <a:avLst/>
          </a:prstGeom>
          <a:solidFill>
            <a:srgbClr val="3A5F8A"/>
          </a:solidFill>
          <a:ln w="12700">
            <a:solidFill>
              <a:srgbClr val="3A5F8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7922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kern="0" spc="10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s-CL" sz="9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Francisca Saavedra</a:t>
            </a:r>
            <a:endParaRPr lang="es-CL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Beas</a:t>
            </a:r>
            <a:endParaRPr lang="es-CL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594360" y="27066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Ulloa</a:t>
            </a:r>
            <a:endParaRPr lang="es-CL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Garrido</a:t>
            </a:r>
            <a:endParaRPr lang="es-CL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4572000" y="17922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00" kern="0" spc="10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s-CL" sz="7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0" y="197510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— Ingeniería de Software</a:t>
            </a:r>
            <a:endParaRPr lang="es-CL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0" y="22951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00" kern="0" spc="10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s-CL" sz="7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0" y="247802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Bernardo</a:t>
            </a:r>
            <a:endParaRPr lang="es-CL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0" y="27980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00" kern="0" spc="10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s-CL" sz="700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0" y="298094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</a:t>
            </a:r>
            <a:endParaRPr lang="es-CL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0" y="330098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00" kern="0" spc="10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s-CL" sz="7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0" y="348386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Mallén González</a:t>
            </a:r>
            <a:endParaRPr lang="es-CL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000" y="38039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00" kern="0" spc="10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s-CL" sz="70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0" y="398678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resumen ejecutivo del caso</a:t>
            </a: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676656"/>
            <a:ext cx="868680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i="1" noProof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esta etapa buscamos comprender la necesidad del cliente antes de construir la solución."</a:t>
            </a:r>
            <a:endParaRPr lang="es-CL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45720" cy="10789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338328" y="1133856"/>
            <a:ext cx="4178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inicial del problema</a:t>
            </a:r>
            <a:endParaRPr lang="es-CL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338328" y="1389888"/>
            <a:ext cx="41788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biblioteca enfrenta procesos manuales obsoletos que generan pérdida de materiales, largas filas en atención y errores en el control de préstamos.</a:t>
            </a:r>
            <a:endParaRPr lang="es-CL" sz="850" noProof="0" dirty="0"/>
          </a:p>
        </p:txBody>
      </p:sp>
      <p:sp>
        <p:nvSpPr>
          <p:cNvPr id="11" name="Shape 9"/>
          <p:cNvSpPr/>
          <p:nvPr/>
        </p:nvSpPr>
        <p:spPr>
          <a:xfrm>
            <a:off x="228600" y="2249424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228600" y="2249424"/>
            <a:ext cx="45720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338328" y="2304288"/>
            <a:ext cx="4178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preliminar de necesidades</a:t>
            </a:r>
            <a:endParaRPr lang="es-CL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338328" y="2560320"/>
            <a:ext cx="41788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identificaron cuatro  usuarios con necesidades distintas: estudiante, docente, bibliotecario y administrador. Cada perfil requiere funciones diferenciadas.</a:t>
            </a:r>
            <a:endParaRPr lang="es-CL" sz="850" noProof="0" dirty="0"/>
          </a:p>
        </p:txBody>
      </p:sp>
      <p:sp>
        <p:nvSpPr>
          <p:cNvPr id="15" name="Shape 13"/>
          <p:cNvSpPr/>
          <p:nvPr/>
        </p:nvSpPr>
        <p:spPr>
          <a:xfrm>
            <a:off x="228600" y="3419856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Shape 14"/>
          <p:cNvSpPr/>
          <p:nvPr/>
        </p:nvSpPr>
        <p:spPr>
          <a:xfrm>
            <a:off x="228600" y="3419856"/>
            <a:ext cx="45720" cy="10789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338328" y="3474720"/>
            <a:ext cx="4178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general del sistema</a:t>
            </a:r>
            <a:endParaRPr lang="es-CL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338328" y="3730752"/>
            <a:ext cx="41788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UNILIB gestionará usuarios, materiales bibliográficos, préstamos con notificaciones, catálogo en línea con filtros y reportes estadísticos.</a:t>
            </a:r>
            <a:endParaRPr lang="es-CL" sz="85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1078992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4709160" y="1078992"/>
            <a:ext cx="45720" cy="10789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4818888" y="1133856"/>
            <a:ext cx="4178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requerimientos</a:t>
            </a:r>
            <a:endParaRPr lang="es-CL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818888" y="1389888"/>
            <a:ext cx="41788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definieron 15 requerimientos funcionales, 3 por cada modulo, y 5 no funcionales de calidad, con énfasis en usabilidad y accesibilidad.</a:t>
            </a:r>
            <a:endParaRPr lang="es-CL" sz="850" noProof="0" dirty="0"/>
          </a:p>
        </p:txBody>
      </p:sp>
      <p:sp>
        <p:nvSpPr>
          <p:cNvPr id="23" name="Shape 21"/>
          <p:cNvSpPr/>
          <p:nvPr/>
        </p:nvSpPr>
        <p:spPr>
          <a:xfrm>
            <a:off x="4709160" y="2249424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Shape 22"/>
          <p:cNvSpPr/>
          <p:nvPr/>
        </p:nvSpPr>
        <p:spPr>
          <a:xfrm>
            <a:off x="4709160" y="2249424"/>
            <a:ext cx="45720" cy="107899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4818888" y="2304288"/>
            <a:ext cx="4178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propuesta</a:t>
            </a:r>
            <a:endParaRPr lang="es-CL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818888" y="2560320"/>
            <a:ext cx="41788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</a:rPr>
              <a:t>Desarrollo iterativo basado en  el Proceso Ágil Unificado (AUP), con fases de inicio, elaboración, construcción y transición. Se complementa con tablero Kanban para la gestión diaria del equipo.</a:t>
            </a:r>
          </a:p>
        </p:txBody>
      </p:sp>
      <p:sp>
        <p:nvSpPr>
          <p:cNvPr id="27" name="Shape 25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Text 26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problema</a:t>
            </a: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" y="676656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5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actual:</a:t>
            </a:r>
            <a:endParaRPr lang="es-CL" sz="950" noProof="0" dirty="0"/>
          </a:p>
        </p:txBody>
      </p:sp>
      <p:sp>
        <p:nvSpPr>
          <p:cNvPr id="6" name="Text 4"/>
          <p:cNvSpPr/>
          <p:nvPr/>
        </p:nvSpPr>
        <p:spPr>
          <a:xfrm>
            <a:off x="228600" y="89611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biblioteca universitaria opera con registros físicos y sistemas desactualizados, incapaces de responder a la demanda estudiantil actual.</a:t>
            </a:r>
            <a:endParaRPr lang="es-CL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228600" y="120700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1207008"/>
            <a:ext cx="4572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338328" y="1261872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Descontrol de inventario</a:t>
            </a:r>
            <a:endParaRPr lang="es-CL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338328" y="1517904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Inexistencia de registro de ubicación (pasillo/estante), lo que facilita el extravío de materiales bibliográficos.</a:t>
            </a:r>
            <a:endParaRPr lang="es-CL" sz="850" noProof="0" dirty="0"/>
          </a:p>
        </p:txBody>
      </p:sp>
      <p:sp>
        <p:nvSpPr>
          <p:cNvPr id="11" name="Shape 9"/>
          <p:cNvSpPr/>
          <p:nvPr/>
        </p:nvSpPr>
        <p:spPr>
          <a:xfrm>
            <a:off x="3136392" y="120700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3136392" y="1207008"/>
            <a:ext cx="4572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3246120" y="1261872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Barreras de acceso</a:t>
            </a:r>
            <a:endParaRPr lang="es-CL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3246120" y="1517904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no disponen de un catálogo digital eficiente, limitando su autonomía en la búsqueda de materiales.</a:t>
            </a:r>
            <a:endParaRPr lang="es-CL" sz="850" noProof="0" dirty="0"/>
          </a:p>
        </p:txBody>
      </p:sp>
      <p:sp>
        <p:nvSpPr>
          <p:cNvPr id="15" name="Shape 13"/>
          <p:cNvSpPr/>
          <p:nvPr/>
        </p:nvSpPr>
        <p:spPr>
          <a:xfrm>
            <a:off x="6044184" y="120700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Shape 14"/>
          <p:cNvSpPr/>
          <p:nvPr/>
        </p:nvSpPr>
        <p:spPr>
          <a:xfrm>
            <a:off x="6044184" y="1207008"/>
            <a:ext cx="45720" cy="109728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6153912" y="1261872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 del servicio</a:t>
            </a:r>
            <a:endParaRPr lang="es-CL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153912" y="1517904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manual genera largas filas y errores humanos en el control de fechas de préstamo.</a:t>
            </a:r>
            <a:endParaRPr lang="es-CL" sz="850" noProof="0" dirty="0"/>
          </a:p>
        </p:txBody>
      </p:sp>
      <p:sp>
        <p:nvSpPr>
          <p:cNvPr id="19" name="Text 17"/>
          <p:cNvSpPr/>
          <p:nvPr/>
        </p:nvSpPr>
        <p:spPr>
          <a:xfrm>
            <a:off x="228600" y="2423160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5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causa y efecto</a:t>
            </a:r>
            <a:endParaRPr lang="es-CL" sz="950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27066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Shape 19"/>
          <p:cNvSpPr/>
          <p:nvPr/>
        </p:nvSpPr>
        <p:spPr>
          <a:xfrm>
            <a:off x="228600" y="2706624"/>
            <a:ext cx="208483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301752" y="270662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s-CL" sz="850" noProof="0" dirty="0"/>
          </a:p>
        </p:txBody>
      </p:sp>
      <p:sp>
        <p:nvSpPr>
          <p:cNvPr id="23" name="Text 21"/>
          <p:cNvSpPr/>
          <p:nvPr/>
        </p:nvSpPr>
        <p:spPr>
          <a:xfrm>
            <a:off x="301752" y="3017520"/>
            <a:ext cx="1938528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bibliotecaria ineficiente y pérdida constante de material.</a:t>
            </a:r>
            <a:endParaRPr lang="es-CL" sz="850" noProof="0" dirty="0"/>
          </a:p>
        </p:txBody>
      </p:sp>
      <p:sp>
        <p:nvSpPr>
          <p:cNvPr id="24" name="Text 22"/>
          <p:cNvSpPr/>
          <p:nvPr/>
        </p:nvSpPr>
        <p:spPr>
          <a:xfrm>
            <a:off x="2331720" y="3529584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100" noProof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L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2423160" y="27066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Shape 24"/>
          <p:cNvSpPr/>
          <p:nvPr/>
        </p:nvSpPr>
        <p:spPr>
          <a:xfrm>
            <a:off x="2423160" y="2706624"/>
            <a:ext cx="2084832" cy="27432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25"/>
          <p:cNvSpPr/>
          <p:nvPr/>
        </p:nvSpPr>
        <p:spPr>
          <a:xfrm>
            <a:off x="2496312" y="270662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s-CL" sz="850" noProof="0" dirty="0"/>
          </a:p>
        </p:txBody>
      </p:sp>
      <p:sp>
        <p:nvSpPr>
          <p:cNvPr id="28" name="Text 26"/>
          <p:cNvSpPr/>
          <p:nvPr/>
        </p:nvSpPr>
        <p:spPr>
          <a:xfrm>
            <a:off x="2496312" y="3017520"/>
            <a:ext cx="1938528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registros físicos y sistemas sin tiempo real.</a:t>
            </a:r>
            <a:endParaRPr lang="es-CL" sz="850" noProof="0" dirty="0"/>
          </a:p>
        </p:txBody>
      </p:sp>
      <p:sp>
        <p:nvSpPr>
          <p:cNvPr id="29" name="Text 27"/>
          <p:cNvSpPr/>
          <p:nvPr/>
        </p:nvSpPr>
        <p:spPr>
          <a:xfrm>
            <a:off x="4526280" y="3529584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100" noProof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L" sz="1100" noProof="0" dirty="0"/>
          </a:p>
        </p:txBody>
      </p:sp>
      <p:sp>
        <p:nvSpPr>
          <p:cNvPr id="30" name="Shape 28"/>
          <p:cNvSpPr/>
          <p:nvPr/>
        </p:nvSpPr>
        <p:spPr>
          <a:xfrm>
            <a:off x="4617720" y="27066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Shape 29"/>
          <p:cNvSpPr/>
          <p:nvPr/>
        </p:nvSpPr>
        <p:spPr>
          <a:xfrm>
            <a:off x="4617720" y="2706624"/>
            <a:ext cx="2084832" cy="2743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Text 30"/>
          <p:cNvSpPr/>
          <p:nvPr/>
        </p:nvSpPr>
        <p:spPr>
          <a:xfrm>
            <a:off x="4690872" y="270662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</a:t>
            </a:r>
            <a:endParaRPr lang="es-CL" sz="850" noProof="0" dirty="0"/>
          </a:p>
        </p:txBody>
      </p:sp>
      <p:sp>
        <p:nvSpPr>
          <p:cNvPr id="33" name="Text 31"/>
          <p:cNvSpPr/>
          <p:nvPr/>
        </p:nvSpPr>
        <p:spPr>
          <a:xfrm>
            <a:off x="4690872" y="3017520"/>
            <a:ext cx="1938528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usuario deficiente y administración sin visibilidad de su colección.</a:t>
            </a:r>
            <a:endParaRPr lang="es-CL" sz="850" noProof="0" dirty="0"/>
          </a:p>
        </p:txBody>
      </p:sp>
      <p:sp>
        <p:nvSpPr>
          <p:cNvPr id="34" name="Text 32"/>
          <p:cNvSpPr/>
          <p:nvPr/>
        </p:nvSpPr>
        <p:spPr>
          <a:xfrm>
            <a:off x="6720840" y="3529584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100" noProof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L" sz="1100" noProof="0" dirty="0"/>
          </a:p>
        </p:txBody>
      </p:sp>
      <p:sp>
        <p:nvSpPr>
          <p:cNvPr id="35" name="Shape 33"/>
          <p:cNvSpPr/>
          <p:nvPr/>
        </p:nvSpPr>
        <p:spPr>
          <a:xfrm>
            <a:off x="6812280" y="27066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Shape 34"/>
          <p:cNvSpPr/>
          <p:nvPr/>
        </p:nvSpPr>
        <p:spPr>
          <a:xfrm>
            <a:off x="6812280" y="2706624"/>
            <a:ext cx="2084832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Text 35"/>
          <p:cNvSpPr/>
          <p:nvPr/>
        </p:nvSpPr>
        <p:spPr>
          <a:xfrm>
            <a:off x="6885432" y="270662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s-CL" sz="850" noProof="0" dirty="0"/>
          </a:p>
        </p:txBody>
      </p:sp>
      <p:sp>
        <p:nvSpPr>
          <p:cNvPr id="38" name="Text 36"/>
          <p:cNvSpPr/>
          <p:nvPr/>
        </p:nvSpPr>
        <p:spPr>
          <a:xfrm>
            <a:off x="6885432" y="3017520"/>
            <a:ext cx="1938528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sistema digital que automatice los procesos bibliotecarios.</a:t>
            </a:r>
            <a:endParaRPr lang="es-CL" sz="850" noProof="0" dirty="0"/>
          </a:p>
        </p:txBody>
      </p:sp>
      <p:sp>
        <p:nvSpPr>
          <p:cNvPr id="39" name="Shape 37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Text 38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18C34-03E4-D3CE-006C-8437C3B5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8199A9-8CFE-6BCE-4E26-56673BB5CFC6}"/>
              </a:ext>
            </a:extLst>
          </p:cNvPr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8F5959-C9DC-A512-358C-FEA4F1CCBD2E}"/>
              </a:ext>
            </a:extLst>
          </p:cNvPr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Usuarios del sistema </a:t>
            </a:r>
            <a:endParaRPr lang="es-CL" sz="20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3DBFD81-0AB4-5595-F602-DE121EED3BB1}"/>
              </a:ext>
            </a:extLst>
          </p:cNvPr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B956EF8-4BD5-7D25-FF08-79CA508AF0DD}"/>
              </a:ext>
            </a:extLst>
          </p:cNvPr>
          <p:cNvSpPr/>
          <p:nvPr/>
        </p:nvSpPr>
        <p:spPr>
          <a:xfrm>
            <a:off x="301752" y="270662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s-CL" sz="850" noProof="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F1DEB93C-323F-AA46-0F3D-68CCAAEDC5F6}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EC6BDD3-CAB2-539F-5891-D4BCFBDBFEC8}"/>
              </a:ext>
            </a:extLst>
          </p:cNvPr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  <p:graphicFrame>
        <p:nvGraphicFramePr>
          <p:cNvPr id="42" name="Tabla 41">
            <a:extLst>
              <a:ext uri="{FF2B5EF4-FFF2-40B4-BE49-F238E27FC236}">
                <a16:creationId xmlns:a16="http://schemas.microsoft.com/office/drawing/2014/main" id="{52ACCD93-831E-80C4-3B9C-A721A573B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500042"/>
              </p:ext>
            </p:extLst>
          </p:nvPr>
        </p:nvGraphicFramePr>
        <p:xfrm>
          <a:off x="1584962" y="807968"/>
          <a:ext cx="5432212" cy="379731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457084">
                  <a:extLst>
                    <a:ext uri="{9D8B030D-6E8A-4147-A177-3AD203B41FA5}">
                      <a16:colId xmlns:a16="http://schemas.microsoft.com/office/drawing/2014/main" val="3053337636"/>
                    </a:ext>
                  </a:extLst>
                </a:gridCol>
                <a:gridCol w="3975128">
                  <a:extLst>
                    <a:ext uri="{9D8B030D-6E8A-4147-A177-3AD203B41FA5}">
                      <a16:colId xmlns:a16="http://schemas.microsoft.com/office/drawing/2014/main" val="2340892510"/>
                    </a:ext>
                  </a:extLst>
                </a:gridCol>
              </a:tblGrid>
              <a:tr h="29218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Usuario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54625" marR="60694" marT="37934" marB="3793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¿Qué necesita?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60694" marR="60694" marT="37934" marB="37934" anchor="ctr"/>
                </a:tc>
                <a:extLst>
                  <a:ext uri="{0D108BD9-81ED-4DB2-BD59-A6C34878D82A}">
                    <a16:rowId xmlns:a16="http://schemas.microsoft.com/office/drawing/2014/main" val="4030920832"/>
                  </a:ext>
                </a:extLst>
              </a:tr>
              <a:tr h="7436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🧑‍🎓 </a:t>
                      </a:r>
                      <a:r>
                        <a:rPr lang="es-CL" sz="1100" b="1" noProof="0" dirty="0">
                          <a:solidFill>
                            <a:srgbClr val="5A6A85"/>
                          </a:solidFill>
                          <a:effectLst/>
                        </a:rPr>
                        <a:t>Estudiante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54625" marR="60694" marT="37934" marB="3793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Buscar libros, pedir prestado, renovar, recibir recordatorios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60694" marR="54625" marT="37934" marB="37934" anchor="ctr"/>
                </a:tc>
                <a:extLst>
                  <a:ext uri="{0D108BD9-81ED-4DB2-BD59-A6C34878D82A}">
                    <a16:rowId xmlns:a16="http://schemas.microsoft.com/office/drawing/2014/main" val="3028150860"/>
                  </a:ext>
                </a:extLst>
              </a:tr>
              <a:tr h="7436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👨‍🏫 </a:t>
                      </a:r>
                      <a:r>
                        <a:rPr lang="es-CL" sz="1100" b="1" noProof="0" dirty="0">
                          <a:solidFill>
                            <a:srgbClr val="5A6A85"/>
                          </a:solidFill>
                          <a:effectLst/>
                        </a:rPr>
                        <a:t>Docente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54625" marR="60694" marT="37934" marB="3793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Buscar por materia, acceder rápido a recursos de su área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60694" marR="54625" marT="37934" marB="37934" anchor="ctr"/>
                </a:tc>
                <a:extLst>
                  <a:ext uri="{0D108BD9-81ED-4DB2-BD59-A6C34878D82A}">
                    <a16:rowId xmlns:a16="http://schemas.microsoft.com/office/drawing/2014/main" val="1182870571"/>
                  </a:ext>
                </a:extLst>
              </a:tr>
              <a:tr h="10963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📚 </a:t>
                      </a:r>
                      <a:r>
                        <a:rPr lang="es-CL" sz="1100" b="1" noProof="0" dirty="0">
                          <a:solidFill>
                            <a:srgbClr val="5A6A85"/>
                          </a:solidFill>
                          <a:effectLst/>
                        </a:rPr>
                        <a:t>Bibliotecario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54625" marR="60694" marT="37934" marB="3793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Registrar préstamos, controlar devoluciones, gestionar inventario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60694" marR="54625" marT="37934" marB="37934" anchor="ctr"/>
                </a:tc>
                <a:extLst>
                  <a:ext uri="{0D108BD9-81ED-4DB2-BD59-A6C34878D82A}">
                    <a16:rowId xmlns:a16="http://schemas.microsoft.com/office/drawing/2014/main" val="80030425"/>
                  </a:ext>
                </a:extLst>
              </a:tr>
              <a:tr h="9199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⚙️ </a:t>
                      </a:r>
                      <a:r>
                        <a:rPr lang="es-CL" sz="1100" b="1" noProof="0" dirty="0">
                          <a:solidFill>
                            <a:srgbClr val="5A6A85"/>
                          </a:solidFill>
                          <a:effectLst/>
                        </a:rPr>
                        <a:t>Administrador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54625" marR="60694" marT="37934" marB="3793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1100" b="0" noProof="0" dirty="0">
                          <a:solidFill>
                            <a:srgbClr val="5A6A85"/>
                          </a:solidFill>
                          <a:effectLst/>
                        </a:rPr>
                        <a:t>Configurar el sistema, generar reportes, gestionar usuarios</a:t>
                      </a:r>
                      <a:endParaRPr lang="es-CL" sz="1100" b="0" noProof="0" dirty="0">
                        <a:solidFill>
                          <a:srgbClr val="5A6A85"/>
                        </a:solidFill>
                        <a:effectLst/>
                        <a:latin typeface="quote-cjk-patch"/>
                      </a:endParaRPr>
                    </a:p>
                  </a:txBody>
                  <a:tcPr marL="60694" marR="54625" marT="37934" marB="37934" anchor="ctr"/>
                </a:tc>
                <a:extLst>
                  <a:ext uri="{0D108BD9-81ED-4DB2-BD59-A6C34878D82A}">
                    <a16:rowId xmlns:a16="http://schemas.microsoft.com/office/drawing/2014/main" val="2986867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86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sistema UNILIB</a:t>
            </a: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676656"/>
            <a:ext cx="521208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301752" y="676656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hará el sistema</a:t>
            </a:r>
            <a:endParaRPr lang="es-CL" sz="900" noProof="0" dirty="0"/>
          </a:p>
        </p:txBody>
      </p:sp>
      <p:sp>
        <p:nvSpPr>
          <p:cNvPr id="7" name="Text 5"/>
          <p:cNvSpPr/>
          <p:nvPr/>
        </p:nvSpPr>
        <p:spPr>
          <a:xfrm>
            <a:off x="301752" y="987552"/>
            <a:ext cx="50657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✔  </a:t>
            </a: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 con roles diferenciados (estudiante, docente, bibliotecario, administrador).</a:t>
            </a:r>
            <a:endParaRPr lang="es-CL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01752" y="1517904"/>
            <a:ext cx="50657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✔  </a:t>
            </a: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el inventario de materiales bibliográficos y su ubicación física.</a:t>
            </a:r>
            <a:endParaRPr lang="es-CL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301752" y="2048256"/>
            <a:ext cx="50657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✔  </a:t>
            </a: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y controlar préstamos y devoluciones con notificaciones automáticas.</a:t>
            </a:r>
            <a:endParaRPr lang="es-CL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301752" y="2578608"/>
            <a:ext cx="50657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✔  </a:t>
            </a: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Proveer catálogo en línea consultable con filtros por autor, título y materia.</a:t>
            </a:r>
            <a:endParaRPr lang="es-CL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301752" y="3108960"/>
            <a:ext cx="50657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✔  </a:t>
            </a: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 estadísticos de uso y actividad de la biblioteca.</a:t>
            </a:r>
            <a:endParaRPr lang="es-CL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228600" y="3730752"/>
            <a:ext cx="52120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301752" y="3730752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hará el sistema</a:t>
            </a:r>
            <a:endParaRPr lang="es-CL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301752" y="4041648"/>
            <a:ext cx="5065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✖  </a:t>
            </a: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procesos académicos, calificaciones ni expedientes.</a:t>
            </a:r>
            <a:endParaRPr lang="es-CL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301752" y="4297680"/>
            <a:ext cx="5065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✖  </a:t>
            </a: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compras o adquisición de nuevos materiales.</a:t>
            </a:r>
            <a:endParaRPr lang="es-CL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301752" y="4553712"/>
            <a:ext cx="5065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✖  </a:t>
            </a: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Integrarse con pasarelas de pago o plataformas e-learning.</a:t>
            </a:r>
            <a:endParaRPr lang="es-CL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5623560" y="676656"/>
            <a:ext cx="32918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5696712" y="67665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iniciales</a:t>
            </a:r>
            <a:endParaRPr lang="es-CL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623560" y="987552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5623560" y="987552"/>
            <a:ext cx="402336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5623560" y="987552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s-CL" sz="8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10241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s-CL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6080760" y="126187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perfiles y acceso por rol</a:t>
            </a:r>
            <a:endParaRPr lang="es-CL" sz="800" noProof="0" dirty="0"/>
          </a:p>
        </p:txBody>
      </p:sp>
      <p:sp>
        <p:nvSpPr>
          <p:cNvPr id="24" name="Shape 22"/>
          <p:cNvSpPr/>
          <p:nvPr/>
        </p:nvSpPr>
        <p:spPr>
          <a:xfrm>
            <a:off x="5623560" y="1700784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5623560" y="1700784"/>
            <a:ext cx="402336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5623560" y="1700784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s-CL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6080760" y="17373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materiales</a:t>
            </a:r>
            <a:endParaRPr lang="es-CL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6080760" y="19751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ubicación física</a:t>
            </a:r>
            <a:endParaRPr lang="es-CL" sz="800" noProof="0" dirty="0"/>
          </a:p>
        </p:txBody>
      </p:sp>
      <p:sp>
        <p:nvSpPr>
          <p:cNvPr id="29" name="Shape 27"/>
          <p:cNvSpPr/>
          <p:nvPr/>
        </p:nvSpPr>
        <p:spPr>
          <a:xfrm>
            <a:off x="5623560" y="241401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Shape 28"/>
          <p:cNvSpPr/>
          <p:nvPr/>
        </p:nvSpPr>
        <p:spPr>
          <a:xfrm>
            <a:off x="5623560" y="2414016"/>
            <a:ext cx="402336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/>
          <p:nvPr/>
        </p:nvSpPr>
        <p:spPr>
          <a:xfrm>
            <a:off x="5623560" y="2414016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s-CL" sz="800" noProof="0" dirty="0"/>
          </a:p>
        </p:txBody>
      </p:sp>
      <p:sp>
        <p:nvSpPr>
          <p:cNvPr id="32" name="Text 30"/>
          <p:cNvSpPr/>
          <p:nvPr/>
        </p:nvSpPr>
        <p:spPr>
          <a:xfrm>
            <a:off x="6080760" y="24505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y devoluciones</a:t>
            </a:r>
            <a:endParaRPr lang="es-CL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6080760" y="268833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y notificaciones</a:t>
            </a:r>
            <a:endParaRPr lang="es-CL" sz="800" noProof="0" dirty="0"/>
          </a:p>
        </p:txBody>
      </p:sp>
      <p:sp>
        <p:nvSpPr>
          <p:cNvPr id="34" name="Shape 32"/>
          <p:cNvSpPr/>
          <p:nvPr/>
        </p:nvSpPr>
        <p:spPr>
          <a:xfrm>
            <a:off x="5623560" y="3127248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Shape 33"/>
          <p:cNvSpPr/>
          <p:nvPr/>
        </p:nvSpPr>
        <p:spPr>
          <a:xfrm>
            <a:off x="5623560" y="3127248"/>
            <a:ext cx="402336" cy="65836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Text 34"/>
          <p:cNvSpPr/>
          <p:nvPr/>
        </p:nvSpPr>
        <p:spPr>
          <a:xfrm>
            <a:off x="5623560" y="3127248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s-CL" sz="800" noProof="0" dirty="0"/>
          </a:p>
        </p:txBody>
      </p:sp>
      <p:sp>
        <p:nvSpPr>
          <p:cNvPr id="37" name="Text 35"/>
          <p:cNvSpPr/>
          <p:nvPr/>
        </p:nvSpPr>
        <p:spPr>
          <a:xfrm>
            <a:off x="6080760" y="31638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en línea</a:t>
            </a:r>
            <a:endParaRPr lang="es-CL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6080760" y="34015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con filtros y accesibilidad</a:t>
            </a:r>
            <a:endParaRPr lang="es-CL" sz="800" noProof="0" dirty="0"/>
          </a:p>
        </p:txBody>
      </p:sp>
      <p:sp>
        <p:nvSpPr>
          <p:cNvPr id="39" name="Shape 37"/>
          <p:cNvSpPr/>
          <p:nvPr/>
        </p:nvSpPr>
        <p:spPr>
          <a:xfrm>
            <a:off x="5623560" y="3840480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Shape 38"/>
          <p:cNvSpPr/>
          <p:nvPr/>
        </p:nvSpPr>
        <p:spPr>
          <a:xfrm>
            <a:off x="5623560" y="3840480"/>
            <a:ext cx="402336" cy="65836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1" name="Text 39"/>
          <p:cNvSpPr/>
          <p:nvPr/>
        </p:nvSpPr>
        <p:spPr>
          <a:xfrm>
            <a:off x="5623560" y="3840480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s-CL" sz="800" noProof="0" dirty="0"/>
          </a:p>
        </p:txBody>
      </p:sp>
      <p:sp>
        <p:nvSpPr>
          <p:cNvPr id="42" name="Text 40"/>
          <p:cNvSpPr/>
          <p:nvPr/>
        </p:nvSpPr>
        <p:spPr>
          <a:xfrm>
            <a:off x="6080760" y="38770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estadísticos</a:t>
            </a:r>
            <a:endParaRPr lang="es-CL" sz="900" noProof="0" dirty="0"/>
          </a:p>
        </p:txBody>
      </p:sp>
      <p:sp>
        <p:nvSpPr>
          <p:cNvPr id="43" name="Text 41"/>
          <p:cNvSpPr/>
          <p:nvPr/>
        </p:nvSpPr>
        <p:spPr>
          <a:xfrm>
            <a:off x="6080760" y="411480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uso y visualizaciones</a:t>
            </a:r>
            <a:endParaRPr lang="es-CL" sz="800" noProof="0" dirty="0"/>
          </a:p>
        </p:txBody>
      </p:sp>
      <p:sp>
        <p:nvSpPr>
          <p:cNvPr id="44" name="Shape 4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5" name="Text 43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274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Metodología propuesta: </a:t>
            </a:r>
          </a:p>
          <a:p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AUP - Proceso Ágil Unificado </a:t>
            </a:r>
            <a:endParaRPr lang="es-CL" sz="2000" noProof="0" dirty="0"/>
          </a:p>
          <a:p>
            <a:pPr marL="0" indent="0">
              <a:buNone/>
            </a:pP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701345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92024" y="1107033"/>
            <a:ext cx="86868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2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 seleccionó esta metodología  porque combina lo estructurado del Proceso Unificado (RUP) con la flexibilidad de las metodologías ágiles. Esta metodología nos permite ir mejorando los requisitos paso a paso.  </a:t>
            </a:r>
          </a:p>
          <a:p>
            <a:pPr marL="0" indent="0">
              <a:buNone/>
            </a:pPr>
            <a:endParaRPr lang="es-CL" sz="1200" noProof="0" dirty="0">
              <a:solidFill>
                <a:srgbClr val="5A6A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L" sz="12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fases de trabajo:</a:t>
            </a:r>
          </a:p>
          <a:p>
            <a:pPr marL="0" indent="0">
              <a:buNone/>
            </a:pPr>
            <a:endParaRPr lang="es-CL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479215" y="1825110"/>
            <a:ext cx="1823720" cy="9076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588942" y="1879974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s-CL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588902" y="2090740"/>
            <a:ext cx="1646259" cy="482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</a:rPr>
              <a:t>Entendemos qué necesita el cliente y definimos el alcance del sistema.</a:t>
            </a:r>
          </a:p>
        </p:txBody>
      </p:sp>
      <p:sp>
        <p:nvSpPr>
          <p:cNvPr id="11" name="Shape 9"/>
          <p:cNvSpPr/>
          <p:nvPr/>
        </p:nvSpPr>
        <p:spPr>
          <a:xfrm>
            <a:off x="2373892" y="1832832"/>
            <a:ext cx="1938497" cy="9142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2369453" y="1847030"/>
            <a:ext cx="45719" cy="8974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2490895" y="1872694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F3864"/>
                </a:solidFill>
              </a:rPr>
              <a:t>ELABORACIÓN</a:t>
            </a:r>
          </a:p>
        </p:txBody>
      </p:sp>
      <p:sp>
        <p:nvSpPr>
          <p:cNvPr id="14" name="Text 12"/>
          <p:cNvSpPr/>
          <p:nvPr/>
        </p:nvSpPr>
        <p:spPr>
          <a:xfrm>
            <a:off x="2466455" y="2130421"/>
            <a:ext cx="1794650" cy="476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</a:rPr>
              <a:t>Analizamos los requisitos y definimos cómo estará organizado el sistema.</a:t>
            </a:r>
          </a:p>
        </p:txBody>
      </p:sp>
      <p:sp>
        <p:nvSpPr>
          <p:cNvPr id="15" name="Shape 13"/>
          <p:cNvSpPr/>
          <p:nvPr/>
        </p:nvSpPr>
        <p:spPr>
          <a:xfrm>
            <a:off x="4396000" y="1839403"/>
            <a:ext cx="2202924" cy="912739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4505727" y="1894267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F3864"/>
                </a:solidFill>
              </a:rPr>
              <a:t>CONSTRUCCIÓN</a:t>
            </a:r>
          </a:p>
        </p:txBody>
      </p:sp>
      <p:sp>
        <p:nvSpPr>
          <p:cNvPr id="18" name="Text 16"/>
          <p:cNvSpPr/>
          <p:nvPr/>
        </p:nvSpPr>
        <p:spPr>
          <a:xfrm>
            <a:off x="4476672" y="2056471"/>
            <a:ext cx="1979011" cy="550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Desarrollamos el sistema en partes pequeñas, es decir, entregas en breves periodos de tiempo.</a:t>
            </a:r>
            <a:endParaRPr lang="es-CL" sz="1000" noProof="0" dirty="0"/>
          </a:p>
        </p:txBody>
      </p:sp>
      <p:sp>
        <p:nvSpPr>
          <p:cNvPr id="33" name="Shape 3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2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DB88F09C-F138-59ED-2B6D-125BDD8C5F71}"/>
              </a:ext>
            </a:extLst>
          </p:cNvPr>
          <p:cNvSpPr/>
          <p:nvPr/>
        </p:nvSpPr>
        <p:spPr>
          <a:xfrm>
            <a:off x="6664749" y="1854309"/>
            <a:ext cx="2000934" cy="905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r>
              <a:rPr lang="es-CL" sz="1050" b="1" noProof="0" dirty="0">
                <a:solidFill>
                  <a:srgbClr val="1F3864"/>
                </a:solidFill>
              </a:rPr>
              <a:t xml:space="preserve">    </a:t>
            </a: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0046FE2E-53F2-F8CD-871D-97149C352D4C}"/>
              </a:ext>
            </a:extLst>
          </p:cNvPr>
          <p:cNvSpPr/>
          <p:nvPr/>
        </p:nvSpPr>
        <p:spPr>
          <a:xfrm>
            <a:off x="6747260" y="2064465"/>
            <a:ext cx="1844568" cy="595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</a:rPr>
              <a:t>Probamos todo, corregimos errores y entregamos el prototipo final.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3720F91-6E65-5903-851F-E389AEAE28E4}"/>
              </a:ext>
            </a:extLst>
          </p:cNvPr>
          <p:cNvSpPr txBox="1"/>
          <p:nvPr/>
        </p:nvSpPr>
        <p:spPr>
          <a:xfrm>
            <a:off x="277706" y="3121940"/>
            <a:ext cx="5330613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50" noProof="0" dirty="0">
                <a:solidFill>
                  <a:srgbClr val="5A6A85"/>
                </a:solidFill>
              </a:rPr>
              <a:t>¿Por qué elegimos esta metodología?</a:t>
            </a:r>
          </a:p>
          <a:p>
            <a:endParaRPr lang="es-CL" sz="1050" noProof="0" dirty="0">
              <a:solidFill>
                <a:srgbClr val="5A6A85"/>
              </a:solidFill>
            </a:endParaRPr>
          </a:p>
          <a:p>
            <a:r>
              <a:rPr lang="es-CL" sz="1050" noProof="0" dirty="0">
                <a:solidFill>
                  <a:srgbClr val="5A6A85"/>
                </a:solidFill>
              </a:rPr>
              <a:t>- Tamaño del equipo: no necesitamos procesos tan estructurados ni cantidades de reuniones.</a:t>
            </a:r>
          </a:p>
          <a:p>
            <a:endParaRPr lang="es-CL" sz="1050" noProof="0" dirty="0">
              <a:solidFill>
                <a:srgbClr val="5A6A85"/>
              </a:solidFill>
            </a:endParaRPr>
          </a:p>
          <a:p>
            <a:r>
              <a:rPr lang="es-CL" sz="1050" noProof="0" dirty="0">
                <a:solidFill>
                  <a:srgbClr val="5A6A85"/>
                </a:solidFill>
              </a:rPr>
              <a:t>- Esta metodología permite seguir trabajando bajo la norma IEEE 830.</a:t>
            </a:r>
          </a:p>
          <a:p>
            <a:pPr marL="171450" indent="-171450">
              <a:buFontTx/>
              <a:buChar char="-"/>
            </a:pPr>
            <a:endParaRPr lang="es-CL" sz="1050" noProof="0" dirty="0">
              <a:solidFill>
                <a:srgbClr val="5A6A85"/>
              </a:solidFill>
            </a:endParaRPr>
          </a:p>
          <a:p>
            <a:r>
              <a:rPr lang="es-CL" sz="1050" noProof="0" dirty="0">
                <a:solidFill>
                  <a:srgbClr val="5A6A85"/>
                </a:solidFill>
              </a:rPr>
              <a:t xml:space="preserve">- Podemos trabajar utilizando el tablero Kanban para organizar las tareas del día a día. </a:t>
            </a:r>
          </a:p>
          <a:p>
            <a:endParaRPr lang="es-CL" noProof="0" dirty="0"/>
          </a:p>
          <a:p>
            <a:endParaRPr lang="es-CL" noProof="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273DA94-D330-9D3A-5C83-F0CEB18374E5}"/>
              </a:ext>
            </a:extLst>
          </p:cNvPr>
          <p:cNvSpPr txBox="1"/>
          <p:nvPr/>
        </p:nvSpPr>
        <p:spPr>
          <a:xfrm>
            <a:off x="6728864" y="1879974"/>
            <a:ext cx="1618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50" b="1" noProof="0" dirty="0">
                <a:solidFill>
                  <a:srgbClr val="002060"/>
                </a:solidFill>
              </a:rPr>
              <a:t>TRANSICIÓN</a:t>
            </a:r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D3956AA7-54EF-19FD-80C8-E8D61E2FCA10}"/>
              </a:ext>
            </a:extLst>
          </p:cNvPr>
          <p:cNvSpPr/>
          <p:nvPr/>
        </p:nvSpPr>
        <p:spPr>
          <a:xfrm>
            <a:off x="475409" y="1823276"/>
            <a:ext cx="45719" cy="8974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58309AAF-7878-1B06-0F75-07D566ADB2EF}"/>
              </a:ext>
            </a:extLst>
          </p:cNvPr>
          <p:cNvSpPr/>
          <p:nvPr/>
        </p:nvSpPr>
        <p:spPr>
          <a:xfrm>
            <a:off x="4402817" y="1841221"/>
            <a:ext cx="45719" cy="8974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B3AE848B-4F2C-0E18-83DC-D15274F2A919}"/>
              </a:ext>
            </a:extLst>
          </p:cNvPr>
          <p:cNvSpPr/>
          <p:nvPr/>
        </p:nvSpPr>
        <p:spPr>
          <a:xfrm>
            <a:off x="6670703" y="1854658"/>
            <a:ext cx="45719" cy="8974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9"/>
          <p:cNvSpPr/>
          <p:nvPr/>
        </p:nvSpPr>
        <p:spPr>
          <a:xfrm>
            <a:off x="228600" y="2525382"/>
            <a:ext cx="246543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EC4444C-ED00-977F-DAA1-395C7E9C2010}"/>
              </a:ext>
            </a:extLst>
          </p:cNvPr>
          <p:cNvSpPr txBox="1"/>
          <p:nvPr/>
        </p:nvSpPr>
        <p:spPr>
          <a:xfrm>
            <a:off x="2286000" y="5303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día a día — Tablero Kanban</a:t>
            </a:r>
            <a:endParaRPr lang="es-CL" sz="1800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82E3EE-8FF3-E3B1-3E14-6673E4D7A45D}"/>
              </a:ext>
            </a:extLst>
          </p:cNvPr>
          <p:cNvSpPr txBox="1"/>
          <p:nvPr/>
        </p:nvSpPr>
        <p:spPr>
          <a:xfrm>
            <a:off x="147484" y="1234399"/>
            <a:ext cx="87507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L" sz="14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tareas se gestionan en tres columnas. Permite al equipo visualizar el avance y redistribuir carga de forma oportuna.</a:t>
            </a:r>
          </a:p>
        </p:txBody>
      </p:sp>
      <p:sp>
        <p:nvSpPr>
          <p:cNvPr id="8" name="Shape 20"/>
          <p:cNvSpPr/>
          <p:nvPr/>
        </p:nvSpPr>
        <p:spPr>
          <a:xfrm>
            <a:off x="228600" y="2260854"/>
            <a:ext cx="2465439" cy="260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Text 21"/>
          <p:cNvSpPr/>
          <p:nvPr/>
        </p:nvSpPr>
        <p:spPr>
          <a:xfrm>
            <a:off x="228600" y="2260854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s-CL" sz="1050" noProof="0" dirty="0"/>
          </a:p>
        </p:txBody>
      </p:sp>
      <p:sp>
        <p:nvSpPr>
          <p:cNvPr id="9" name="Text 22"/>
          <p:cNvSpPr/>
          <p:nvPr/>
        </p:nvSpPr>
        <p:spPr>
          <a:xfrm>
            <a:off x="261735" y="2571750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diagramas de contexto</a:t>
            </a:r>
            <a:endParaRPr lang="es-CL" sz="1000" noProof="0" dirty="0"/>
          </a:p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interfaces de usuario</a:t>
            </a:r>
            <a:endParaRPr lang="es-CL" sz="1000" noProof="0" dirty="0"/>
          </a:p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presentación final</a:t>
            </a:r>
            <a:endParaRPr lang="es-CL" sz="1000" noProof="0" dirty="0"/>
          </a:p>
        </p:txBody>
      </p:sp>
      <p:sp>
        <p:nvSpPr>
          <p:cNvPr id="11" name="Shape 23"/>
          <p:cNvSpPr/>
          <p:nvPr/>
        </p:nvSpPr>
        <p:spPr>
          <a:xfrm>
            <a:off x="2971800" y="2274077"/>
            <a:ext cx="2465439" cy="136687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24"/>
          <p:cNvSpPr/>
          <p:nvPr/>
        </p:nvSpPr>
        <p:spPr>
          <a:xfrm>
            <a:off x="2971800" y="2260854"/>
            <a:ext cx="2465439" cy="269255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25"/>
          <p:cNvSpPr/>
          <p:nvPr/>
        </p:nvSpPr>
        <p:spPr>
          <a:xfrm>
            <a:off x="3044952" y="2274077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s-CL" sz="1050" noProof="0" dirty="0"/>
          </a:p>
        </p:txBody>
      </p:sp>
      <p:sp>
        <p:nvSpPr>
          <p:cNvPr id="14" name="Text 26"/>
          <p:cNvSpPr/>
          <p:nvPr/>
        </p:nvSpPr>
        <p:spPr>
          <a:xfrm>
            <a:off x="3044952" y="2548397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ERS sección 3 (RF/RNF)</a:t>
            </a:r>
            <a:endParaRPr lang="es-CL" sz="1000" noProof="0" dirty="0"/>
          </a:p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planilla de RAN</a:t>
            </a:r>
            <a:endParaRPr lang="es-CL" sz="1000" noProof="0" dirty="0"/>
          </a:p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requerimientos</a:t>
            </a:r>
            <a:endParaRPr lang="es-CL" sz="1000" noProof="0" dirty="0"/>
          </a:p>
        </p:txBody>
      </p:sp>
      <p:sp>
        <p:nvSpPr>
          <p:cNvPr id="15" name="Shape 27"/>
          <p:cNvSpPr/>
          <p:nvPr/>
        </p:nvSpPr>
        <p:spPr>
          <a:xfrm>
            <a:off x="5806440" y="2242566"/>
            <a:ext cx="2596896" cy="136687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Shape 28"/>
          <p:cNvSpPr/>
          <p:nvPr/>
        </p:nvSpPr>
        <p:spPr>
          <a:xfrm>
            <a:off x="5806440" y="2242566"/>
            <a:ext cx="2596896" cy="246421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29"/>
          <p:cNvSpPr/>
          <p:nvPr/>
        </p:nvSpPr>
        <p:spPr>
          <a:xfrm>
            <a:off x="5952744" y="2274077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s-CL" sz="1050" noProof="0" dirty="0"/>
          </a:p>
        </p:txBody>
      </p:sp>
      <p:sp>
        <p:nvSpPr>
          <p:cNvPr id="18" name="Text 30"/>
          <p:cNvSpPr/>
          <p:nvPr/>
        </p:nvSpPr>
        <p:spPr>
          <a:xfrm>
            <a:off x="5952744" y="2548397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alcance del proyecto</a:t>
            </a:r>
            <a:endParaRPr lang="es-CL" sz="1000" noProof="0" dirty="0"/>
          </a:p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módulos del sistema</a:t>
            </a:r>
            <a:endParaRPr lang="es-CL" sz="1000" noProof="0" dirty="0"/>
          </a:p>
          <a:p>
            <a:pPr marL="0" indent="0">
              <a:buNone/>
            </a:pPr>
            <a:r>
              <a:rPr lang="es-CL" sz="10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secciones 1, 2 y 4 ERS</a:t>
            </a:r>
            <a:endParaRPr lang="es-CL" sz="1000" noProof="0" dirty="0"/>
          </a:p>
        </p:txBody>
      </p:sp>
    </p:spTree>
    <p:extLst>
      <p:ext uri="{BB962C8B-B14F-4D97-AF65-F5344CB8AC3E}">
        <p14:creationId xmlns:p14="http://schemas.microsoft.com/office/powerpoint/2010/main" val="293506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 del sistema</a:t>
            </a: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274446"/>
              </p:ext>
            </p:extLst>
          </p:nvPr>
        </p:nvGraphicFramePr>
        <p:xfrm>
          <a:off x="228600" y="886968"/>
          <a:ext cx="8686800" cy="373075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breve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50" b="1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Autenticar usuario por rol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credenciales y redirigir al perfil correspondiente.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RF-01.1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usuarios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cuentas con validación de datos y asignación de rol.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RF-01.2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funciones por rol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 menú dinámico según el perfil autenticado.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50" b="1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materiales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Administrar el inventario bibliográfico completo.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RF-02.1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materiales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Ingresar datos con validación en línea y actualizar catálogo.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RF-02.2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disponibilidad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Visualizar stock actualizado y ubicación física.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6C34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50" b="1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préstamos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Administrar el ciclo completo de préstamos.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6C34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RF-03.1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préstamo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disponibilidad y confirmar con comprobante.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6C34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RF-03.2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notificaciones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Alertar automáticamente sobre vencimientos próximos.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6C34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50" b="1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catálogo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Proveer búsqueda y reserva de materiales en línea.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RF-04.1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con filtros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Filtrar por autor, título y materia en pocos pasos.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RF-04.2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reserva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disponibilidad y reservar material desde el catálogo.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17A5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50" b="1" noProof="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reportes</a:t>
                      </a:r>
                      <a:endParaRPr lang="es-CL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Generar estadísticas de uso para toma de decisiones.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b="1" noProof="0" dirty="0">
                          <a:solidFill>
                            <a:srgbClr val="17A5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RF-05.1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de uso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materiales por frecuencia de préstamo, exportable.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17A5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RF-05.2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80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de inventario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L" sz="750" noProof="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y rotación por materia, exportable.</a:t>
                      </a:r>
                      <a:endParaRPr lang="es-CL" sz="7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800" noProof="0" dirty="0">
                          <a:solidFill>
                            <a:srgbClr val="17A5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s-CL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5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no funcionales y de calidad</a:t>
            </a: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50" i="1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calidad del proceso de diseño y construcción — 1 RNF por modulo.</a:t>
            </a:r>
            <a:endParaRPr lang="es-CL" sz="85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7432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/>
          <p:nvPr/>
        </p:nvSpPr>
        <p:spPr>
          <a:xfrm>
            <a:off x="301752" y="91440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  —  M1 — Usuarios</a:t>
            </a:r>
            <a:endParaRPr lang="es-CL" sz="800" noProof="0" dirty="0"/>
          </a:p>
        </p:txBody>
      </p:sp>
      <p:sp>
        <p:nvSpPr>
          <p:cNvPr id="9" name="Shape 7"/>
          <p:cNvSpPr/>
          <p:nvPr/>
        </p:nvSpPr>
        <p:spPr>
          <a:xfrm>
            <a:off x="301752" y="1207008"/>
            <a:ext cx="76809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301752" y="120700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s-CL" sz="700" noProof="0" dirty="0"/>
          </a:p>
        </p:txBody>
      </p:sp>
      <p:sp>
        <p:nvSpPr>
          <p:cNvPr id="11" name="Text 9"/>
          <p:cNvSpPr/>
          <p:nvPr/>
        </p:nvSpPr>
        <p:spPr>
          <a:xfrm>
            <a:off x="1124712" y="121615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RAN: RAN-U-01</a:t>
            </a:r>
            <a:endParaRPr lang="es-CL" sz="750" noProof="0" dirty="0"/>
          </a:p>
        </p:txBody>
      </p:sp>
      <p:sp>
        <p:nvSpPr>
          <p:cNvPr id="12" name="Text 10"/>
          <p:cNvSpPr/>
          <p:nvPr/>
        </p:nvSpPr>
        <p:spPr>
          <a:xfrm>
            <a:off x="301752" y="1426464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debe adaptar la navegación al rol autenticado, mostrando únicamente las funciones de cada perfil. Sin configuración adicional del usuario.</a:t>
            </a:r>
            <a:endParaRPr lang="es-CL" sz="800" noProof="0" dirty="0"/>
          </a:p>
        </p:txBody>
      </p:sp>
      <p:sp>
        <p:nvSpPr>
          <p:cNvPr id="13" name="Shape 11"/>
          <p:cNvSpPr/>
          <p:nvPr/>
        </p:nvSpPr>
        <p:spPr>
          <a:xfrm>
            <a:off x="3136392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3136392" y="914400"/>
            <a:ext cx="274320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3209544" y="91440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  —  M2 — Libros</a:t>
            </a:r>
            <a:endParaRPr lang="es-CL" sz="800" noProof="0" dirty="0"/>
          </a:p>
        </p:txBody>
      </p:sp>
      <p:sp>
        <p:nvSpPr>
          <p:cNvPr id="16" name="Shape 14"/>
          <p:cNvSpPr/>
          <p:nvPr/>
        </p:nvSpPr>
        <p:spPr>
          <a:xfrm>
            <a:off x="3209544" y="1207008"/>
            <a:ext cx="768096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3209544" y="120700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s-CL" sz="700" noProof="0" dirty="0"/>
          </a:p>
        </p:txBody>
      </p:sp>
      <p:sp>
        <p:nvSpPr>
          <p:cNvPr id="18" name="Text 16"/>
          <p:cNvSpPr/>
          <p:nvPr/>
        </p:nvSpPr>
        <p:spPr>
          <a:xfrm>
            <a:off x="4032504" y="121615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RAN: RAN-U-02</a:t>
            </a:r>
            <a:endParaRPr lang="es-CL" sz="750" noProof="0" dirty="0"/>
          </a:p>
        </p:txBody>
      </p:sp>
      <p:sp>
        <p:nvSpPr>
          <p:cNvPr id="19" name="Text 17"/>
          <p:cNvSpPr/>
          <p:nvPr/>
        </p:nvSpPr>
        <p:spPr>
          <a:xfrm>
            <a:off x="3209544" y="1426464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formularios de materiales deben validar campos en línea, con mensajes de error junto al campo afectado que describan el problema y cómo corregirlo.</a:t>
            </a:r>
            <a:endParaRPr lang="es-CL" sz="800" noProof="0" dirty="0"/>
          </a:p>
        </p:txBody>
      </p:sp>
      <p:sp>
        <p:nvSpPr>
          <p:cNvPr id="20" name="Shape 18"/>
          <p:cNvSpPr/>
          <p:nvPr/>
        </p:nvSpPr>
        <p:spPr>
          <a:xfrm>
            <a:off x="6044184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Shape 19"/>
          <p:cNvSpPr/>
          <p:nvPr/>
        </p:nvSpPr>
        <p:spPr>
          <a:xfrm>
            <a:off x="6044184" y="914400"/>
            <a:ext cx="274320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6117336" y="91440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  —  M3 — Préstamos</a:t>
            </a:r>
            <a:endParaRPr lang="es-CL" sz="800" noProof="0" dirty="0"/>
          </a:p>
        </p:txBody>
      </p:sp>
      <p:sp>
        <p:nvSpPr>
          <p:cNvPr id="23" name="Shape 21"/>
          <p:cNvSpPr/>
          <p:nvPr/>
        </p:nvSpPr>
        <p:spPr>
          <a:xfrm>
            <a:off x="6117336" y="1207008"/>
            <a:ext cx="768096" cy="1828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/>
          <p:nvPr/>
        </p:nvSpPr>
        <p:spPr>
          <a:xfrm>
            <a:off x="6117336" y="120700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s-CL" sz="700" noProof="0" dirty="0"/>
          </a:p>
        </p:txBody>
      </p:sp>
      <p:sp>
        <p:nvSpPr>
          <p:cNvPr id="25" name="Text 23"/>
          <p:cNvSpPr/>
          <p:nvPr/>
        </p:nvSpPr>
        <p:spPr>
          <a:xfrm>
            <a:off x="6940296" y="121615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RAN: RAN-A-01</a:t>
            </a:r>
            <a:endParaRPr lang="es-CL" sz="750" noProof="0" dirty="0"/>
          </a:p>
        </p:txBody>
      </p:sp>
      <p:sp>
        <p:nvSpPr>
          <p:cNvPr id="26" name="Text 24"/>
          <p:cNvSpPr/>
          <p:nvPr/>
        </p:nvSpPr>
        <p:spPr>
          <a:xfrm>
            <a:off x="6117336" y="1426464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operaciones de préstamo deben ser realizables con teclado exclusivo, con etiquetas ARIA y compatibilidad con lectores de pantalla NVDA y JAWS.</a:t>
            </a:r>
            <a:endParaRPr lang="es-CL" sz="800" noProof="0" dirty="0"/>
          </a:p>
        </p:txBody>
      </p:sp>
      <p:sp>
        <p:nvSpPr>
          <p:cNvPr id="27" name="Shape 25"/>
          <p:cNvSpPr/>
          <p:nvPr/>
        </p:nvSpPr>
        <p:spPr>
          <a:xfrm>
            <a:off x="228600" y="2688336"/>
            <a:ext cx="422452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Shape 26"/>
          <p:cNvSpPr/>
          <p:nvPr/>
        </p:nvSpPr>
        <p:spPr>
          <a:xfrm>
            <a:off x="228600" y="2688336"/>
            <a:ext cx="42245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Text 27"/>
          <p:cNvSpPr/>
          <p:nvPr/>
        </p:nvSpPr>
        <p:spPr>
          <a:xfrm>
            <a:off x="301752" y="2688336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  —  M4 — Catálogo</a:t>
            </a:r>
            <a:endParaRPr lang="es-CL" sz="800" noProof="0" dirty="0"/>
          </a:p>
        </p:txBody>
      </p:sp>
      <p:sp>
        <p:nvSpPr>
          <p:cNvPr id="30" name="Shape 28"/>
          <p:cNvSpPr/>
          <p:nvPr/>
        </p:nvSpPr>
        <p:spPr>
          <a:xfrm>
            <a:off x="301752" y="2980944"/>
            <a:ext cx="768096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/>
          <p:nvPr/>
        </p:nvSpPr>
        <p:spPr>
          <a:xfrm>
            <a:off x="301752" y="2980944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s-CL" sz="700" noProof="0" dirty="0"/>
          </a:p>
        </p:txBody>
      </p:sp>
      <p:sp>
        <p:nvSpPr>
          <p:cNvPr id="32" name="Text 30"/>
          <p:cNvSpPr/>
          <p:nvPr/>
        </p:nvSpPr>
        <p:spPr>
          <a:xfrm>
            <a:off x="1124712" y="2990088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RAN: RAN-A-02</a:t>
            </a:r>
            <a:endParaRPr lang="es-CL" sz="750" noProof="0" dirty="0"/>
          </a:p>
        </p:txBody>
      </p:sp>
      <p:sp>
        <p:nvSpPr>
          <p:cNvPr id="33" name="Text 31"/>
          <p:cNvSpPr/>
          <p:nvPr/>
        </p:nvSpPr>
        <p:spPr>
          <a:xfrm>
            <a:off x="301752" y="3200400"/>
            <a:ext cx="40782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debe cumplir con estándar WCAG 2.1 nivel AA: contraste adecuado, texto alternativo en imágenes.</a:t>
            </a:r>
          </a:p>
        </p:txBody>
      </p:sp>
      <p:sp>
        <p:nvSpPr>
          <p:cNvPr id="34" name="Shape 32"/>
          <p:cNvSpPr/>
          <p:nvPr/>
        </p:nvSpPr>
        <p:spPr>
          <a:xfrm>
            <a:off x="4690872" y="2688336"/>
            <a:ext cx="422452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Shape 33"/>
          <p:cNvSpPr/>
          <p:nvPr/>
        </p:nvSpPr>
        <p:spPr>
          <a:xfrm>
            <a:off x="4690872" y="2688336"/>
            <a:ext cx="4224528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Text 34"/>
          <p:cNvSpPr/>
          <p:nvPr/>
        </p:nvSpPr>
        <p:spPr>
          <a:xfrm>
            <a:off x="4764024" y="2688336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  —  M5 — Reportes</a:t>
            </a:r>
            <a:endParaRPr lang="es-CL" sz="800" noProof="0" dirty="0"/>
          </a:p>
        </p:txBody>
      </p:sp>
      <p:sp>
        <p:nvSpPr>
          <p:cNvPr id="37" name="Shape 35"/>
          <p:cNvSpPr/>
          <p:nvPr/>
        </p:nvSpPr>
        <p:spPr>
          <a:xfrm>
            <a:off x="4764024" y="2980944"/>
            <a:ext cx="768096" cy="1828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Text 36"/>
          <p:cNvSpPr/>
          <p:nvPr/>
        </p:nvSpPr>
        <p:spPr>
          <a:xfrm>
            <a:off x="4764024" y="2980944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s-CL" sz="700" noProof="0" dirty="0"/>
          </a:p>
        </p:txBody>
      </p:sp>
      <p:sp>
        <p:nvSpPr>
          <p:cNvPr id="39" name="Text 37"/>
          <p:cNvSpPr/>
          <p:nvPr/>
        </p:nvSpPr>
        <p:spPr>
          <a:xfrm>
            <a:off x="5586984" y="2990088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RAN: RAN-A-03</a:t>
            </a:r>
            <a:endParaRPr lang="es-CL" sz="750" noProof="0" dirty="0"/>
          </a:p>
        </p:txBody>
      </p:sp>
      <p:sp>
        <p:nvSpPr>
          <p:cNvPr id="40" name="Text 38"/>
          <p:cNvSpPr/>
          <p:nvPr/>
        </p:nvSpPr>
        <p:spPr>
          <a:xfrm>
            <a:off x="4764024" y="3200400"/>
            <a:ext cx="40782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5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visualizaciones de reportes deben incluir descripción textual alternativa, ser responsivas en distintos dispositivos y permitir redimensionado sin pérdida de contenido.</a:t>
            </a:r>
            <a:endParaRPr lang="es-CL" sz="850" noProof="0" dirty="0"/>
          </a:p>
        </p:txBody>
      </p:sp>
      <p:sp>
        <p:nvSpPr>
          <p:cNvPr id="43" name="Shape 4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Text 42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contexto del sistema UNILIB</a:t>
            </a: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7278624" y="89611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s-CL" sz="850" noProof="0" dirty="0"/>
          </a:p>
        </p:txBody>
      </p:sp>
      <p:sp>
        <p:nvSpPr>
          <p:cNvPr id="34" name="Shape 3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Text 33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D1C82F9-7595-C6EA-0634-9FCED217D5D7}"/>
              </a:ext>
            </a:extLst>
          </p:cNvPr>
          <p:cNvSpPr txBox="1"/>
          <p:nvPr/>
        </p:nvSpPr>
        <p:spPr>
          <a:xfrm>
            <a:off x="228600" y="1318440"/>
            <a:ext cx="192430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L" sz="1100" noProof="0" dirty="0">
                <a:latin typeface="Arial" panose="020B0604020202020204" pitchFamily="34" charset="0"/>
              </a:rPr>
              <a:t>UNILIB es un sistema web que permite gestionar una biblioteca de forma digital, reemplazando procesos manuales.</a:t>
            </a:r>
            <a:br>
              <a:rPr lang="es-CL" sz="1100" noProof="0" dirty="0">
                <a:latin typeface="Arial" panose="020B0604020202020204" pitchFamily="34" charset="0"/>
              </a:rPr>
            </a:br>
            <a:r>
              <a:rPr lang="es-CL" sz="1100" noProof="0" dirty="0">
                <a:latin typeface="Arial" panose="020B0604020202020204" pitchFamily="34" charset="0"/>
              </a:rPr>
              <a:t>Permite administrar usuarios, libros, préstamos, catálogo y reportes desde una sola plataforma.</a:t>
            </a:r>
            <a:br>
              <a:rPr lang="es-CL" sz="1100" noProof="0" dirty="0">
                <a:latin typeface="Arial" panose="020B0604020202020204" pitchFamily="34" charset="0"/>
              </a:rPr>
            </a:br>
            <a:r>
              <a:rPr lang="es-CL" sz="1100" noProof="0" dirty="0">
                <a:latin typeface="Arial" panose="020B0604020202020204" pitchFamily="34" charset="0"/>
              </a:rPr>
              <a:t>Su objetivo es reducir errores, mejorar el control del inventario y agilizar la atención.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7CA053-1A10-701F-F129-022A34E0A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068" y="641909"/>
            <a:ext cx="6683698" cy="3642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propuestas y lecciones aprendidas</a:t>
            </a: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310896" cy="12984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228600" y="713232"/>
            <a:ext cx="310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612648" y="7680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periódica de los RAN</a:t>
            </a:r>
            <a:endParaRPr lang="es-CL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612648" y="10241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al inicio de cada fase que los Requisitos de Alto Nivel siguen alineados con las decisiones de diseño. Evita desviaciones costosas de corregir.</a:t>
            </a:r>
            <a:endParaRPr lang="es-CL" sz="800" noProof="0" dirty="0"/>
          </a:p>
        </p:txBody>
      </p:sp>
      <p:sp>
        <p:nvSpPr>
          <p:cNvPr id="10" name="Text 8"/>
          <p:cNvSpPr/>
          <p:nvPr/>
        </p:nvSpPr>
        <p:spPr>
          <a:xfrm>
            <a:off x="612648" y="16276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Asegura coherencia entre planificación y construcción.</a:t>
            </a:r>
            <a:endParaRPr lang="es-CL" sz="750" noProof="0" dirty="0"/>
          </a:p>
        </p:txBody>
      </p:sp>
      <p:sp>
        <p:nvSpPr>
          <p:cNvPr id="11" name="Shape 9"/>
          <p:cNvSpPr/>
          <p:nvPr/>
        </p:nvSpPr>
        <p:spPr>
          <a:xfrm>
            <a:off x="228600" y="210312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228600" y="2103120"/>
            <a:ext cx="310896" cy="12984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228600" y="2103120"/>
            <a:ext cx="310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612648" y="21579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usabilidad con usuarios reales</a:t>
            </a:r>
            <a:endParaRPr lang="es-CL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612648" y="241401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Validar el diseño de interfaces con al menos un representante de cada perfil antes de construir, usando los criterios de los RAN como </a:t>
            </a:r>
            <a:r>
              <a:rPr lang="es-CL" sz="800" noProof="0" dirty="0" err="1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guión</a:t>
            </a: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 prueba.</a:t>
            </a:r>
            <a:endParaRPr lang="es-CL" sz="800" noProof="0" dirty="0"/>
          </a:p>
        </p:txBody>
      </p:sp>
      <p:sp>
        <p:nvSpPr>
          <p:cNvPr id="16" name="Text 14"/>
          <p:cNvSpPr/>
          <p:nvPr/>
        </p:nvSpPr>
        <p:spPr>
          <a:xfrm>
            <a:off x="612648" y="30175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Reduce retrabajo y mejora la experiencia del usuario final.</a:t>
            </a:r>
            <a:endParaRPr lang="es-CL" sz="750" noProof="0" dirty="0"/>
          </a:p>
        </p:txBody>
      </p:sp>
      <p:sp>
        <p:nvSpPr>
          <p:cNvPr id="17" name="Shape 15"/>
          <p:cNvSpPr/>
          <p:nvPr/>
        </p:nvSpPr>
        <p:spPr>
          <a:xfrm>
            <a:off x="228600" y="34930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Shape 16"/>
          <p:cNvSpPr/>
          <p:nvPr/>
        </p:nvSpPr>
        <p:spPr>
          <a:xfrm>
            <a:off x="228600" y="3493008"/>
            <a:ext cx="310896" cy="12984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 17"/>
          <p:cNvSpPr/>
          <p:nvPr/>
        </p:nvSpPr>
        <p:spPr>
          <a:xfrm>
            <a:off x="228600" y="3493008"/>
            <a:ext cx="310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612648" y="35478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 cortas con validación temprana</a:t>
            </a:r>
            <a:endParaRPr lang="es-CL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612648" y="38039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sprint de la fase de construcción se debe Validar un modulo complete con usuarios reales.</a:t>
            </a:r>
            <a:endParaRPr lang="es-CL" sz="800" noProof="0" dirty="0"/>
          </a:p>
        </p:txBody>
      </p:sp>
      <p:sp>
        <p:nvSpPr>
          <p:cNvPr id="22" name="Text 20"/>
          <p:cNvSpPr/>
          <p:nvPr/>
        </p:nvSpPr>
        <p:spPr>
          <a:xfrm>
            <a:off x="612648" y="44074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Se detectan problemas de usabilidad y accesibilidad antes de avanzar.</a:t>
            </a:r>
            <a:endParaRPr lang="es-CL" sz="750" noProof="0" dirty="0"/>
          </a:p>
        </p:txBody>
      </p:sp>
      <p:sp>
        <p:nvSpPr>
          <p:cNvPr id="23" name="Shape 21"/>
          <p:cNvSpPr/>
          <p:nvPr/>
        </p:nvSpPr>
        <p:spPr>
          <a:xfrm>
            <a:off x="4690872" y="713232"/>
            <a:ext cx="42245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Shape 22"/>
          <p:cNvSpPr/>
          <p:nvPr/>
        </p:nvSpPr>
        <p:spPr>
          <a:xfrm>
            <a:off x="4690872" y="713232"/>
            <a:ext cx="310896" cy="12984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4690872" y="713232"/>
            <a:ext cx="310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400" noProof="0" dirty="0"/>
          </a:p>
        </p:txBody>
      </p:sp>
      <p:sp>
        <p:nvSpPr>
          <p:cNvPr id="26" name="Text 24"/>
          <p:cNvSpPr/>
          <p:nvPr/>
        </p:nvSpPr>
        <p:spPr>
          <a:xfrm>
            <a:off x="5074920" y="768096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auditoría en operaciones críticas</a:t>
            </a:r>
            <a:endParaRPr lang="es-CL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5074920" y="1024128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log que registre quién ejecutó operaciones como registrar préstamo, modificar usuario o eliminar material, con fecha y hora.</a:t>
            </a:r>
            <a:endParaRPr lang="es-CL" sz="800" noProof="0" dirty="0"/>
          </a:p>
        </p:txBody>
      </p:sp>
      <p:sp>
        <p:nvSpPr>
          <p:cNvPr id="28" name="Text 26"/>
          <p:cNvSpPr/>
          <p:nvPr/>
        </p:nvSpPr>
        <p:spPr>
          <a:xfrm>
            <a:off x="5074920" y="1627632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Aporta trazabilidad operacional y facilita el control de calidad.</a:t>
            </a:r>
            <a:endParaRPr lang="es-CL" sz="750" noProof="0" dirty="0"/>
          </a:p>
        </p:txBody>
      </p:sp>
      <p:sp>
        <p:nvSpPr>
          <p:cNvPr id="29" name="Shape 27"/>
          <p:cNvSpPr/>
          <p:nvPr/>
        </p:nvSpPr>
        <p:spPr>
          <a:xfrm>
            <a:off x="4690872" y="2103120"/>
            <a:ext cx="42245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Shape 28"/>
          <p:cNvSpPr/>
          <p:nvPr/>
        </p:nvSpPr>
        <p:spPr>
          <a:xfrm>
            <a:off x="4690872" y="2103120"/>
            <a:ext cx="310896" cy="129844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/>
          <p:nvPr/>
        </p:nvSpPr>
        <p:spPr>
          <a:xfrm>
            <a:off x="4690872" y="2103120"/>
            <a:ext cx="310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1400" noProof="0" dirty="0"/>
          </a:p>
        </p:txBody>
      </p:sp>
      <p:sp>
        <p:nvSpPr>
          <p:cNvPr id="32" name="Text 30"/>
          <p:cNvSpPr/>
          <p:nvPr/>
        </p:nvSpPr>
        <p:spPr>
          <a:xfrm>
            <a:off x="5074920" y="2157984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modular para facilitar mantenimiento</a:t>
            </a:r>
            <a:endParaRPr lang="es-CL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5074920" y="2414016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8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el código en módulos independientes para que las correcciones en uno no afecten a los demás. Facilita mejoras futuras como API o app móvil.</a:t>
            </a:r>
            <a:endParaRPr lang="es-CL" sz="800" noProof="0" dirty="0"/>
          </a:p>
        </p:txBody>
      </p:sp>
      <p:sp>
        <p:nvSpPr>
          <p:cNvPr id="34" name="Text 32"/>
          <p:cNvSpPr/>
          <p:nvPr/>
        </p:nvSpPr>
        <p:spPr>
          <a:xfrm>
            <a:off x="5074920" y="3017520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i="1" noProof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Reduce riesgo de regresiones y facilita escalabilidad.</a:t>
            </a:r>
            <a:endParaRPr lang="es-CL" sz="750" noProof="0" dirty="0"/>
          </a:p>
        </p:txBody>
      </p:sp>
      <p:sp>
        <p:nvSpPr>
          <p:cNvPr id="35" name="Shape 3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Text 34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2801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del caso biblioteca</a:t>
            </a:r>
            <a:endParaRPr lang="es-CL" sz="20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603504"/>
            <a:ext cx="8686800" cy="20117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224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731520"/>
            <a:ext cx="4224528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320040" y="731520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definir requisitos claros</a:t>
            </a:r>
            <a:endParaRPr lang="es-CL" sz="950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40599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el problema de la biblioteca y definir el alcance con precisión permitió construir una especificación clara. Sin esta base, cualquier solución tecnológica carece de dirección.</a:t>
            </a:r>
            <a:endParaRPr lang="es-CL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4690872" y="731520"/>
            <a:ext cx="4224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4690872" y="731520"/>
            <a:ext cx="4224528" cy="27432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4782312" y="731520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 del proceso de Ingeniería de Software</a:t>
            </a:r>
            <a:endParaRPr lang="es-CL" sz="950" noProof="0" dirty="0"/>
          </a:p>
        </p:txBody>
      </p:sp>
      <p:sp>
        <p:nvSpPr>
          <p:cNvPr id="12" name="Text 10"/>
          <p:cNvSpPr/>
          <p:nvPr/>
        </p:nvSpPr>
        <p:spPr>
          <a:xfrm>
            <a:off x="4782312" y="1078992"/>
            <a:ext cx="40599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norma IEEE 830 garantiza que los requisitos no sean vagos. La trazabilidad entre RAN, RF y RNF demuestra que cada decisión de diseño tiene un origen documentado.</a:t>
            </a:r>
            <a:endParaRPr lang="es-CL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228600" y="2724912"/>
            <a:ext cx="4224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724912"/>
            <a:ext cx="422452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" y="272491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al negocio de la biblioteca</a:t>
            </a:r>
            <a:endParaRPr lang="es-CL" sz="950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" y="3072384"/>
            <a:ext cx="40599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UNILIB permitirá recuperar el control del inventario, agilizar la atención a estudiantes y docentes, y proveer información estadística para la toma de decisiones sobre la colección.</a:t>
            </a:r>
            <a:endParaRPr lang="es-CL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690872" y="2724912"/>
            <a:ext cx="4224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Shape 16"/>
          <p:cNvSpPr/>
          <p:nvPr/>
        </p:nvSpPr>
        <p:spPr>
          <a:xfrm>
            <a:off x="4690872" y="2724912"/>
            <a:ext cx="4224528" cy="2743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 17"/>
          <p:cNvSpPr/>
          <p:nvPr/>
        </p:nvSpPr>
        <p:spPr>
          <a:xfrm>
            <a:off x="4782312" y="272491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de la Ingeniería de Software</a:t>
            </a:r>
            <a:endParaRPr lang="es-CL" sz="950" noProof="0" dirty="0"/>
          </a:p>
        </p:txBody>
      </p:sp>
      <p:sp>
        <p:nvSpPr>
          <p:cNvPr id="20" name="Text 18"/>
          <p:cNvSpPr/>
          <p:nvPr/>
        </p:nvSpPr>
        <p:spPr>
          <a:xfrm>
            <a:off x="4782312" y="3072384"/>
            <a:ext cx="40599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900" noProof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caso evidencia que la Ingeniería de Software no trata de escribir código, sino de entender un problema, definir una solución estructurada y planificar su construcción con rigor técnico.</a:t>
            </a:r>
            <a:endParaRPr lang="es-CL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182880" y="4901184"/>
            <a:ext cx="8229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Ingeniería de Software  |  Experiencia 1  |  Caso UNILIB  |  </a:t>
            </a:r>
            <a:r>
              <a:rPr lang="es-CL" sz="750" noProof="0" dirty="0" err="1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</a:t>
            </a:r>
            <a:r>
              <a:rPr lang="es-CL" sz="750" noProof="0" dirty="0">
                <a:solidFill>
                  <a:srgbClr val="9B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San Bernardo</a:t>
            </a:r>
            <a:endParaRPr lang="es-CL" sz="7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1735</Words>
  <Application>Microsoft Office PowerPoint</Application>
  <PresentationFormat>Presentación en pantalla (16:9)</PresentationFormat>
  <Paragraphs>265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quote-cjk-patch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 – Experiencia 1 UNILIB</dc:title>
  <dc:subject>PptxGenJS Presentation</dc:subject>
  <dc:creator>PptxGenJS</dc:creator>
  <cp:lastModifiedBy>FRANCISCA . SAAVEDRA SAAVEDRA MEZA</cp:lastModifiedBy>
  <cp:revision>4</cp:revision>
  <dcterms:created xsi:type="dcterms:W3CDTF">2026-04-16T13:25:52Z</dcterms:created>
  <dcterms:modified xsi:type="dcterms:W3CDTF">2026-04-16T21:26:04Z</dcterms:modified>
</cp:coreProperties>
</file>